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Doctor, and welcome everyone. Today we're covering one clear, specific task: how to simulate booking a medical appointment and prevent two patients from booking the same slot at the same time. In short, if one slot shows up in front of two patients and each of them clicks book in the same microsecond, an ordinary system might accept both and cause a real mess in the clinic. Let's see how we solved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didn't ask us to build a giant clinic system. It asked for specific things: simulate two requests arriving at the same moment for the same slot, prevent both from succeeding together, make sure exactly one request confirms the booking while the other is rejected, and show that result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code, the appointment collection in MongoDB (Appointment.js) is defined simply: we have the slot time (slotTime), and a status field that starts as AVAILABLE. As soon as the slot is booked, the status flips to BOOKED and the patient who booked it is recorded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work happens in appointmentController.js, specifically inside the bookSlot function. When a patient sends a booking request, the code doesn't read first and then update. Instead, it runs a single direct MongoDB command, findOneAndUpdate, with two conditions together: the appointment ID must match, and its status must still be AVAILABLE. If both hold, it changes the status to BOOKED. If it can't find the slot available, meaning someone got there first, it rejects the request and returns a 400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the scenario: two patients open the system at the same second and want the same slot. This is where the atomic update comes in. The request the database server receives first, by a fraction of a millisecond, gets executed and closes the slot. When the second request arrives right after and looks for the slot with status AVAILABLE, it doesn't find it, so that booking fails and is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don't have to test by hand every time, we wrote a test and simulation file called testSimulation.js. It first creates two slots, then uses JavaScript's Promise.all to send both requests together at exactly the same time. After that it runs assertions to confirm that one request returned success and the other returned a rejection.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ran the simulation, the results came out exactly as the code was designed: the first request returned Appointment booked successfully!, and the second was told This slot is either already booked or does not exist!. And when the doctor opened the schedule at the end of the test, the total was two slots, one was booked, and the other was still available, with no conflicts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what we achieved in this task is strong protection against double booking for a single document, using MongoDB's atomic update. And to be clear and upfront from an academic standpoint: this project does not use MongoDB multi-document transactions or sessions. We rely on single-document atomicity, which fully solves the problem and does the job without extra complexity.
Closing: Thank you all very much for listening. That covers preventing the same slot from being booked twice under concurrency, in a clean and simple way. I'm ready for any questions from you or from the Doctor.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3A"/>
        </a:solidFill>
      </p:bgPr>
    </p:bg>
    <p:spTree>
      <p:nvGrpSpPr>
        <p:cNvPr id="1" name=""/>
        <p:cNvGrpSpPr/>
        <p:nvPr/>
      </p:nvGrpSpPr>
      <p:grpSpPr>
        <a:xfrm>
          <a:off x="0" y="0"/>
          <a:ext cx="0" cy="0"/>
          <a:chOff x="0" y="0"/>
          <a:chExt cx="0" cy="0"/>
        </a:xfrm>
      </p:grpSpPr>
      <p:sp>
        <p:nvSpPr>
          <p:cNvPr id="2" name="Text 0"/>
          <p:cNvSpPr txBox="1"/>
          <p:nvPr/>
        </p:nvSpPr>
        <p:spPr>
          <a:xfrm>
            <a:off x="484632" y="365760"/>
            <a:ext cx="566928" cy="566928"/>
          </a:xfrm>
          <a:prstGeom prst="ellipse">
            <a:avLst/>
          </a:prstGeom>
          <a:solidFill>
            <a:srgbClr val="5EE0D0"/>
          </a:solidFill>
          <a:ln/>
        </p:spPr>
        <p:txBody>
          <a:bodyPr wrap="square" lIns="0" tIns="0" rIns="0" bIns="0" rtlCol="0" anchor="ctr"/>
          <a:lstStyle/>
          <a:p>
            <a:pPr algn="ctr" indent="0" marL="0">
              <a:buNone/>
            </a:pPr>
            <a:r>
              <a:rPr lang="en-US" sz="2000" b="1" dirty="0">
                <a:solidFill>
                  <a:srgbClr val="0B2A3A"/>
                </a:solidFill>
                <a:latin typeface="Arial" pitchFamily="34" charset="0"/>
                <a:ea typeface="Arial" pitchFamily="34" charset="-122"/>
                <a:cs typeface="Arial" pitchFamily="34" charset="-120"/>
              </a:rPr>
              <a:t>1</a:t>
            </a:r>
            <a:endParaRPr lang="en-US" sz="2000" dirty="0"/>
          </a:p>
        </p:txBody>
      </p:sp>
      <p:sp>
        <p:nvSpPr>
          <p:cNvPr id="3" name="Text 1"/>
          <p:cNvSpPr txBox="1"/>
          <p:nvPr/>
        </p:nvSpPr>
        <p:spPr>
          <a:xfrm>
            <a:off x="1234440" y="320040"/>
            <a:ext cx="7452360" cy="658368"/>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What's the Task, and What's the Problem?</a:t>
            </a:r>
            <a:endParaRPr lang="en-US" sz="2600" dirty="0"/>
          </a:p>
        </p:txBody>
      </p:sp>
      <p:sp>
        <p:nvSpPr>
          <p:cNvPr id="4" name="Text 2"/>
          <p:cNvSpPr txBox="1"/>
          <p:nvPr/>
        </p:nvSpPr>
        <p:spPr>
          <a:xfrm>
            <a:off x="457200" y="1280160"/>
            <a:ext cx="4114800" cy="320040"/>
          </a:xfrm>
          <a:prstGeom prst="rect">
            <a:avLst/>
          </a:prstGeom>
          <a:noFill/>
          <a:ln/>
        </p:spPr>
        <p:txBody>
          <a:bodyPr wrap="square" lIns="0" tIns="0" rIns="0" bIns="0" rtlCol="0" anchor="ctr"/>
          <a:lstStyle/>
          <a:p>
            <a:pPr algn="l" indent="0" marL="0">
              <a:buNone/>
            </a:pPr>
            <a:r>
              <a:rPr lang="en-US" sz="1500" b="1" dirty="0">
                <a:solidFill>
                  <a:srgbClr val="5EE0D0"/>
                </a:solidFill>
                <a:latin typeface="Arial" pitchFamily="34" charset="0"/>
                <a:ea typeface="Arial" pitchFamily="34" charset="-122"/>
                <a:cs typeface="Arial" pitchFamily="34" charset="-120"/>
              </a:rPr>
              <a:t>The Task</a:t>
            </a:r>
            <a:endParaRPr lang="en-US" sz="1500" dirty="0"/>
          </a:p>
        </p:txBody>
      </p:sp>
      <p:sp>
        <p:nvSpPr>
          <p:cNvPr id="5" name="Shape 3"/>
          <p:cNvSpPr/>
          <p:nvPr/>
        </p:nvSpPr>
        <p:spPr>
          <a:xfrm>
            <a:off x="457200" y="1645920"/>
            <a:ext cx="4114800" cy="1188720"/>
          </a:xfrm>
          <a:prstGeom prst="roundRect">
            <a:avLst>
              <a:gd name="adj" fmla="val 9231"/>
            </a:avLst>
          </a:prstGeom>
          <a:solidFill>
            <a:srgbClr val="12394D"/>
          </a:solidFill>
          <a:ln w="12700">
            <a:solidFill>
              <a:srgbClr val="12394D"/>
            </a:solidFill>
            <a:prstDash val="solid"/>
          </a:ln>
        </p:spPr>
      </p:sp>
      <p:sp>
        <p:nvSpPr>
          <p:cNvPr id="6" name="Text 4"/>
          <p:cNvSpPr txBox="1"/>
          <p:nvPr/>
        </p:nvSpPr>
        <p:spPr>
          <a:xfrm>
            <a:off x="640080" y="1691640"/>
            <a:ext cx="3749040" cy="1097280"/>
          </a:xfrm>
          <a:prstGeom prst="rect">
            <a:avLst/>
          </a:prstGeom>
          <a:noFill/>
          <a:ln/>
        </p:spPr>
        <p:txBody>
          <a:bodyPr wrap="square" lIns="0" tIns="0" rIns="0" bIns="0" rtlCol="0" anchor="ctr"/>
          <a:lstStyle/>
          <a:p>
            <a:pPr algn="l" indent="0" marL="0">
              <a:buNone/>
            </a:pPr>
            <a:r>
              <a:rPr lang="en-US" sz="1400" i="1" dirty="0">
                <a:solidFill>
                  <a:srgbClr val="FFFFFF"/>
                </a:solidFill>
                <a:latin typeface="Arial" pitchFamily="34" charset="0"/>
                <a:ea typeface="Arial" pitchFamily="34" charset="-122"/>
                <a:cs typeface="Arial" pitchFamily="34" charset="-120"/>
              </a:rPr>
              <a:t>Implement an appointment-slot transaction simulation that prevents a second booking of the same slot.</a:t>
            </a:r>
            <a:endParaRPr lang="en-US" sz="1400" dirty="0"/>
          </a:p>
        </p:txBody>
      </p:sp>
      <p:sp>
        <p:nvSpPr>
          <p:cNvPr id="7" name="Text 5"/>
          <p:cNvSpPr txBox="1"/>
          <p:nvPr/>
        </p:nvSpPr>
        <p:spPr>
          <a:xfrm>
            <a:off x="457200" y="3108960"/>
            <a:ext cx="4114800" cy="320040"/>
          </a:xfrm>
          <a:prstGeom prst="rect">
            <a:avLst/>
          </a:prstGeom>
          <a:noFill/>
          <a:ln/>
        </p:spPr>
        <p:txBody>
          <a:bodyPr wrap="square" lIns="0" tIns="0" rIns="0" bIns="0" rtlCol="0" anchor="ctr"/>
          <a:lstStyle/>
          <a:p>
            <a:pPr algn="l" indent="0" marL="0">
              <a:buNone/>
            </a:pPr>
            <a:r>
              <a:rPr lang="en-US" sz="1500" b="1" dirty="0">
                <a:solidFill>
                  <a:srgbClr val="5EE0D0"/>
                </a:solidFill>
                <a:latin typeface="Arial" pitchFamily="34" charset="0"/>
                <a:ea typeface="Arial" pitchFamily="34" charset="-122"/>
                <a:cs typeface="Arial" pitchFamily="34" charset="-120"/>
              </a:rPr>
              <a:t>The Problem</a:t>
            </a:r>
            <a:endParaRPr lang="en-US" sz="1500" dirty="0"/>
          </a:p>
        </p:txBody>
      </p:sp>
      <p:sp>
        <p:nvSpPr>
          <p:cNvPr id="8" name="Text 6"/>
          <p:cNvSpPr txBox="1"/>
          <p:nvPr/>
        </p:nvSpPr>
        <p:spPr>
          <a:xfrm>
            <a:off x="457200" y="3474720"/>
            <a:ext cx="4114800" cy="1097280"/>
          </a:xfrm>
          <a:prstGeom prst="rect">
            <a:avLst/>
          </a:prstGeom>
          <a:noFill/>
          <a:ln/>
        </p:spPr>
        <p:txBody>
          <a:bodyPr wrap="square" lIns="0" tIns="0" rIns="0" bIns="0" rtlCol="0" anchor="t"/>
          <a:lstStyle/>
          <a:p>
            <a:pPr algn="l" indent="0" marL="0">
              <a:buNone/>
            </a:pPr>
            <a:r>
              <a:rPr lang="en-US" sz="1700" dirty="0">
                <a:solidFill>
                  <a:srgbClr val="FFFFFF"/>
                </a:solidFill>
                <a:latin typeface="Arial" pitchFamily="34" charset="0"/>
                <a:ea typeface="Arial" pitchFamily="34" charset="-122"/>
                <a:cs typeface="Arial" pitchFamily="34" charset="-120"/>
              </a:rPr>
              <a:t>If two patients try to book the same slot at the exact same second, what guarantees there will be no "double booking"?</a:t>
            </a:r>
            <a:endParaRPr lang="en-US" sz="1700" dirty="0"/>
          </a:p>
        </p:txBody>
      </p:sp>
      <p:sp>
        <p:nvSpPr>
          <p:cNvPr id="9" name="Shape 7"/>
          <p:cNvSpPr/>
          <p:nvPr/>
        </p:nvSpPr>
        <p:spPr>
          <a:xfrm>
            <a:off x="5577840" y="1371600"/>
            <a:ext cx="822960" cy="822960"/>
          </a:xfrm>
          <a:prstGeom prst="ellipse">
            <a:avLst/>
          </a:prstGeom>
          <a:solidFill>
            <a:srgbClr val="0E7C86"/>
          </a:solidFill>
          <a:ln w="12700">
            <a:solidFill>
              <a:srgbClr val="0E7C86"/>
            </a:solidFill>
            <a:prstDash val="solid"/>
          </a:ln>
        </p:spPr>
      </p:sp>
      <p:pic>
        <p:nvPicPr>
          <p:cNvPr id="10" name="Image 0" descr="preencoded.png">    </p:cNvPr>
          <p:cNvPicPr>
            <a:picLocks noChangeAspect="1"/>
          </p:cNvPicPr>
          <p:nvPr/>
        </p:nvPicPr>
        <p:blipFill>
          <a:blip r:embed="rId1"/>
          <a:stretch>
            <a:fillRect/>
          </a:stretch>
        </p:blipFill>
        <p:spPr>
          <a:xfrm>
            <a:off x="5783580" y="1577340"/>
            <a:ext cx="411480" cy="411480"/>
          </a:xfrm>
          <a:prstGeom prst="rect">
            <a:avLst/>
          </a:prstGeom>
        </p:spPr>
      </p:pic>
      <p:sp>
        <p:nvSpPr>
          <p:cNvPr id="11" name="Shape 8"/>
          <p:cNvSpPr/>
          <p:nvPr/>
        </p:nvSpPr>
        <p:spPr>
          <a:xfrm>
            <a:off x="7040880" y="1371600"/>
            <a:ext cx="822960" cy="822960"/>
          </a:xfrm>
          <a:prstGeom prst="ellipse">
            <a:avLst/>
          </a:prstGeom>
          <a:solidFill>
            <a:srgbClr val="0E7C86"/>
          </a:solidFill>
          <a:ln w="12700">
            <a:solidFill>
              <a:srgbClr val="0E7C86"/>
            </a:solidFill>
            <a:prstDash val="solid"/>
          </a:ln>
        </p:spPr>
      </p:sp>
      <p:pic>
        <p:nvPicPr>
          <p:cNvPr id="12" name="Image 1" descr="preencoded.png">    </p:cNvPr>
          <p:cNvPicPr>
            <a:picLocks noChangeAspect="1"/>
          </p:cNvPicPr>
          <p:nvPr/>
        </p:nvPicPr>
        <p:blipFill>
          <a:blip r:embed="rId2"/>
          <a:stretch>
            <a:fillRect/>
          </a:stretch>
        </p:blipFill>
        <p:spPr>
          <a:xfrm>
            <a:off x="7246620" y="1577340"/>
            <a:ext cx="411480" cy="411480"/>
          </a:xfrm>
          <a:prstGeom prst="rect">
            <a:avLst/>
          </a:prstGeom>
        </p:spPr>
      </p:pic>
      <p:sp>
        <p:nvSpPr>
          <p:cNvPr id="13" name="Text 9"/>
          <p:cNvSpPr txBox="1"/>
          <p:nvPr/>
        </p:nvSpPr>
        <p:spPr>
          <a:xfrm>
            <a:off x="5394960" y="2286000"/>
            <a:ext cx="1188720" cy="274320"/>
          </a:xfrm>
          <a:prstGeom prst="rect">
            <a:avLst/>
          </a:prstGeom>
          <a:noFill/>
          <a:ln/>
        </p:spPr>
        <p:txBody>
          <a:bodyPr wrap="square" lIns="0" tIns="0" rIns="0" bIns="0" rtlCol="0" anchor="ctr"/>
          <a:lstStyle/>
          <a:p>
            <a:pPr algn="ctr" indent="0" marL="0">
              <a:buNone/>
            </a:pPr>
            <a:r>
              <a:rPr lang="en-US" sz="1300" dirty="0">
                <a:solidFill>
                  <a:srgbClr val="CADCE2"/>
                </a:solidFill>
                <a:latin typeface="Arial" pitchFamily="34" charset="0"/>
                <a:ea typeface="Arial" pitchFamily="34" charset="-122"/>
                <a:cs typeface="Arial" pitchFamily="34" charset="-120"/>
              </a:rPr>
              <a:t>Patient 1</a:t>
            </a:r>
            <a:endParaRPr lang="en-US" sz="1300" dirty="0"/>
          </a:p>
        </p:txBody>
      </p:sp>
      <p:sp>
        <p:nvSpPr>
          <p:cNvPr id="14" name="Text 10"/>
          <p:cNvSpPr txBox="1"/>
          <p:nvPr/>
        </p:nvSpPr>
        <p:spPr>
          <a:xfrm>
            <a:off x="6858000" y="2286000"/>
            <a:ext cx="1188720" cy="274320"/>
          </a:xfrm>
          <a:prstGeom prst="rect">
            <a:avLst/>
          </a:prstGeom>
          <a:noFill/>
          <a:ln/>
        </p:spPr>
        <p:txBody>
          <a:bodyPr wrap="square" lIns="0" tIns="0" rIns="0" bIns="0" rtlCol="0" anchor="ctr"/>
          <a:lstStyle/>
          <a:p>
            <a:pPr algn="ctr" indent="0" marL="0">
              <a:buNone/>
            </a:pPr>
            <a:r>
              <a:rPr lang="en-US" sz="1300" dirty="0">
                <a:solidFill>
                  <a:srgbClr val="CADCE2"/>
                </a:solidFill>
                <a:latin typeface="Arial" pitchFamily="34" charset="0"/>
                <a:ea typeface="Arial" pitchFamily="34" charset="-122"/>
                <a:cs typeface="Arial" pitchFamily="34" charset="-120"/>
              </a:rPr>
              <a:t>Patient 2</a:t>
            </a:r>
            <a:endParaRPr lang="en-US" sz="1300" dirty="0"/>
          </a:p>
        </p:txBody>
      </p:sp>
      <p:sp>
        <p:nvSpPr>
          <p:cNvPr id="15" name="Shape 11"/>
          <p:cNvSpPr/>
          <p:nvPr/>
        </p:nvSpPr>
        <p:spPr>
          <a:xfrm>
            <a:off x="5989320" y="2697480"/>
            <a:ext cx="0" cy="914400"/>
          </a:xfrm>
          <a:prstGeom prst="line">
            <a:avLst/>
          </a:prstGeom>
          <a:noFill/>
          <a:ln w="31750">
            <a:solidFill>
              <a:srgbClr val="5EE0D0"/>
            </a:solidFill>
            <a:prstDash val="solid"/>
            <a:tailEnd type="triangle"/>
          </a:ln>
        </p:spPr>
      </p:sp>
      <p:sp>
        <p:nvSpPr>
          <p:cNvPr id="16" name="Shape 12"/>
          <p:cNvSpPr/>
          <p:nvPr/>
        </p:nvSpPr>
        <p:spPr>
          <a:xfrm>
            <a:off x="7452360" y="2697480"/>
            <a:ext cx="0" cy="914400"/>
          </a:xfrm>
          <a:prstGeom prst="line">
            <a:avLst/>
          </a:prstGeom>
          <a:noFill/>
          <a:ln w="31750">
            <a:solidFill>
              <a:srgbClr val="5EE0D0"/>
            </a:solidFill>
            <a:prstDash val="solid"/>
            <a:tailEnd type="triangle"/>
          </a:ln>
        </p:spPr>
      </p:sp>
      <p:sp>
        <p:nvSpPr>
          <p:cNvPr id="17" name="Shape 13"/>
          <p:cNvSpPr/>
          <p:nvPr/>
        </p:nvSpPr>
        <p:spPr>
          <a:xfrm>
            <a:off x="6492240" y="2788920"/>
            <a:ext cx="457200" cy="457200"/>
          </a:xfrm>
          <a:prstGeom prst="ellipse">
            <a:avLst/>
          </a:prstGeom>
          <a:solidFill>
            <a:srgbClr val="E4572E"/>
          </a:solidFill>
          <a:ln w="12700">
            <a:solidFill>
              <a:srgbClr val="E4572E"/>
            </a:solidFill>
            <a:prstDash val="solid"/>
          </a:ln>
        </p:spPr>
      </p:sp>
      <p:pic>
        <p:nvPicPr>
          <p:cNvPr id="18" name="Image 2" descr="preencoded.png">    </p:cNvPr>
          <p:cNvPicPr>
            <a:picLocks noChangeAspect="1"/>
          </p:cNvPicPr>
          <p:nvPr/>
        </p:nvPicPr>
        <p:blipFill>
          <a:blip r:embed="rId3"/>
          <a:stretch>
            <a:fillRect/>
          </a:stretch>
        </p:blipFill>
        <p:spPr>
          <a:xfrm>
            <a:off x="6606540" y="2903220"/>
            <a:ext cx="228600" cy="228600"/>
          </a:xfrm>
          <a:prstGeom prst="rect">
            <a:avLst/>
          </a:prstGeom>
        </p:spPr>
      </p:pic>
      <p:sp>
        <p:nvSpPr>
          <p:cNvPr id="19" name="Shape 14"/>
          <p:cNvSpPr/>
          <p:nvPr/>
        </p:nvSpPr>
        <p:spPr>
          <a:xfrm>
            <a:off x="5212080" y="3639312"/>
            <a:ext cx="3017520" cy="731520"/>
          </a:xfrm>
          <a:prstGeom prst="roundRect">
            <a:avLst>
              <a:gd name="adj" fmla="val 15000"/>
            </a:avLst>
          </a:prstGeom>
          <a:solidFill>
            <a:srgbClr val="FFFFFF"/>
          </a:solidFill>
          <a:ln w="12700">
            <a:solidFill>
              <a:srgbClr val="FFFFFF"/>
            </a:solidFill>
            <a:prstDash val="solid"/>
          </a:ln>
        </p:spPr>
      </p:sp>
      <p:sp>
        <p:nvSpPr>
          <p:cNvPr id="20" name="Text 15"/>
          <p:cNvSpPr txBox="1"/>
          <p:nvPr/>
        </p:nvSpPr>
        <p:spPr>
          <a:xfrm>
            <a:off x="5212080" y="3639312"/>
            <a:ext cx="3017520" cy="731520"/>
          </a:xfrm>
          <a:prstGeom prst="rect">
            <a:avLst/>
          </a:prstGeom>
          <a:noFill/>
          <a:ln/>
        </p:spPr>
        <p:txBody>
          <a:bodyPr wrap="square" lIns="0" tIns="0" rIns="0" bIns="0" rtlCol="0" anchor="ctr"/>
          <a:lstStyle/>
          <a:p>
            <a:pPr algn="ctr" indent="0" marL="0">
              <a:buNone/>
            </a:pPr>
            <a:r>
              <a:rPr lang="en-US" sz="1500" b="1" dirty="0">
                <a:solidFill>
                  <a:srgbClr val="12313F"/>
                </a:solidFill>
                <a:latin typeface="Arial" pitchFamily="34" charset="0"/>
                <a:ea typeface="Arial" pitchFamily="34" charset="-122"/>
                <a:cs typeface="Arial" pitchFamily="34" charset="-120"/>
              </a:rPr>
              <a:t>Same slot • Same moment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F8"/>
        </a:solidFill>
      </p:bgPr>
    </p:bg>
    <p:spTree>
      <p:nvGrpSpPr>
        <p:cNvPr id="1" name=""/>
        <p:cNvGrpSpPr/>
        <p:nvPr/>
      </p:nvGrpSpPr>
      <p:grpSpPr>
        <a:xfrm>
          <a:off x="0" y="0"/>
          <a:ext cx="0" cy="0"/>
          <a:chOff x="0" y="0"/>
          <a:chExt cx="0" cy="0"/>
        </a:xfrm>
      </p:grpSpPr>
      <p:sp>
        <p:nvSpPr>
          <p:cNvPr id="2" name="Text 0"/>
          <p:cNvSpPr txBox="1"/>
          <p:nvPr/>
        </p:nvSpPr>
        <p:spPr>
          <a:xfrm>
            <a:off x="484632" y="365760"/>
            <a:ext cx="566928" cy="566928"/>
          </a:xfrm>
          <a:prstGeom prst="ellipse">
            <a:avLst/>
          </a:prstGeom>
          <a:solidFill>
            <a:srgbClr val="0E7C86"/>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3" name="Text 1"/>
          <p:cNvSpPr txBox="1"/>
          <p:nvPr/>
        </p:nvSpPr>
        <p:spPr>
          <a:xfrm>
            <a:off x="1234440" y="320040"/>
            <a:ext cx="7452360" cy="658368"/>
          </a:xfrm>
          <a:prstGeom prst="rect">
            <a:avLst/>
          </a:prstGeom>
          <a:noFill/>
          <a:ln/>
        </p:spPr>
        <p:txBody>
          <a:bodyPr wrap="square" lIns="0" tIns="0" rIns="0" bIns="0" rtlCol="0" anchor="ctr"/>
          <a:lstStyle/>
          <a:p>
            <a:pPr algn="l" indent="0" marL="0">
              <a:buNone/>
            </a:pPr>
            <a:r>
              <a:rPr lang="en-US" sz="2600" b="1" dirty="0">
                <a:solidFill>
                  <a:srgbClr val="12313F"/>
                </a:solidFill>
                <a:latin typeface="Arial" pitchFamily="34" charset="0"/>
                <a:ea typeface="Arial" pitchFamily="34" charset="-122"/>
                <a:cs typeface="Arial" pitchFamily="34" charset="-120"/>
              </a:rPr>
              <a:t>What the Task Requires, Exactly</a:t>
            </a:r>
            <a:endParaRPr lang="en-US" sz="2600" dirty="0"/>
          </a:p>
        </p:txBody>
      </p:sp>
      <p:sp>
        <p:nvSpPr>
          <p:cNvPr id="4" name="Shape 2"/>
          <p:cNvSpPr/>
          <p:nvPr/>
        </p:nvSpPr>
        <p:spPr>
          <a:xfrm>
            <a:off x="457200" y="1280160"/>
            <a:ext cx="8229600" cy="6858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621792" y="1408176"/>
            <a:ext cx="429768" cy="429768"/>
          </a:xfrm>
          <a:prstGeom prst="rect">
            <a:avLst/>
          </a:prstGeom>
        </p:spPr>
      </p:pic>
      <p:sp>
        <p:nvSpPr>
          <p:cNvPr id="6" name="Text 3"/>
          <p:cNvSpPr txBox="1"/>
          <p:nvPr/>
        </p:nvSpPr>
        <p:spPr>
          <a:xfrm>
            <a:off x="1234440" y="1280160"/>
            <a:ext cx="7178040" cy="685800"/>
          </a:xfrm>
          <a:prstGeom prst="rect">
            <a:avLst/>
          </a:prstGeom>
          <a:noFill/>
          <a:ln/>
        </p:spPr>
        <p:txBody>
          <a:bodyPr wrap="square" lIns="0" tIns="0" rIns="0" bIns="0" rtlCol="0" anchor="ctr"/>
          <a:lstStyle/>
          <a:p>
            <a:pPr algn="l" indent="0" marL="0">
              <a:buNone/>
            </a:pPr>
            <a:r>
              <a:rPr lang="en-US" sz="1800" b="1" dirty="0">
                <a:solidFill>
                  <a:srgbClr val="12313F"/>
                </a:solidFill>
                <a:latin typeface="Arial" pitchFamily="34" charset="0"/>
                <a:ea typeface="Arial" pitchFamily="34" charset="-122"/>
                <a:cs typeface="Arial" pitchFamily="34" charset="-120"/>
              </a:rPr>
              <a:t>Simulate two concurrent booking attempts for the same slot.</a:t>
            </a:r>
            <a:endParaRPr lang="en-US" sz="1800" dirty="0"/>
          </a:p>
        </p:txBody>
      </p:sp>
      <p:sp>
        <p:nvSpPr>
          <p:cNvPr id="7" name="Shape 4"/>
          <p:cNvSpPr/>
          <p:nvPr/>
        </p:nvSpPr>
        <p:spPr>
          <a:xfrm>
            <a:off x="457200" y="2103120"/>
            <a:ext cx="8229600" cy="6858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621792" y="2231136"/>
            <a:ext cx="429768" cy="429768"/>
          </a:xfrm>
          <a:prstGeom prst="rect">
            <a:avLst/>
          </a:prstGeom>
        </p:spPr>
      </p:pic>
      <p:sp>
        <p:nvSpPr>
          <p:cNvPr id="9" name="Text 5"/>
          <p:cNvSpPr txBox="1"/>
          <p:nvPr/>
        </p:nvSpPr>
        <p:spPr>
          <a:xfrm>
            <a:off x="1234440" y="2103120"/>
            <a:ext cx="4892040" cy="685800"/>
          </a:xfrm>
          <a:prstGeom prst="rect">
            <a:avLst/>
          </a:prstGeom>
          <a:noFill/>
          <a:ln/>
        </p:spPr>
        <p:txBody>
          <a:bodyPr wrap="square" lIns="0" tIns="0" rIns="0" bIns="0" rtlCol="0" anchor="ctr"/>
          <a:lstStyle/>
          <a:p>
            <a:pPr algn="l" indent="0" marL="0">
              <a:buNone/>
            </a:pPr>
            <a:r>
              <a:rPr lang="en-US" sz="1800" b="1" dirty="0">
                <a:solidFill>
                  <a:srgbClr val="12313F"/>
                </a:solidFill>
                <a:latin typeface="Arial" pitchFamily="34" charset="0"/>
                <a:ea typeface="Arial" pitchFamily="34" charset="-122"/>
                <a:cs typeface="Arial" pitchFamily="34" charset="-120"/>
              </a:rPr>
              <a:t>Prevent both bookings from succeeding, in any way.</a:t>
            </a:r>
            <a:endParaRPr lang="en-US" sz="1800" dirty="0"/>
          </a:p>
        </p:txBody>
      </p:sp>
      <p:sp>
        <p:nvSpPr>
          <p:cNvPr id="10" name="Shape 6"/>
          <p:cNvSpPr/>
          <p:nvPr/>
        </p:nvSpPr>
        <p:spPr>
          <a:xfrm>
            <a:off x="6400800" y="2258568"/>
            <a:ext cx="2011680" cy="374904"/>
          </a:xfrm>
          <a:prstGeom prst="roundRect">
            <a:avLst>
              <a:gd name="adj" fmla="val 48780"/>
            </a:avLst>
          </a:prstGeom>
          <a:solidFill>
            <a:srgbClr val="FDECE7"/>
          </a:solidFill>
          <a:ln w="12700">
            <a:solidFill>
              <a:srgbClr val="FDECE7"/>
            </a:solidFill>
            <a:prstDash val="solid"/>
          </a:ln>
        </p:spPr>
      </p:sp>
      <p:pic>
        <p:nvPicPr>
          <p:cNvPr id="11" name="Image 2" descr="preencoded.png">    </p:cNvPr>
          <p:cNvPicPr>
            <a:picLocks noChangeAspect="1"/>
          </p:cNvPicPr>
          <p:nvPr/>
        </p:nvPicPr>
        <p:blipFill>
          <a:blip r:embed="rId3"/>
          <a:stretch>
            <a:fillRect/>
          </a:stretch>
        </p:blipFill>
        <p:spPr>
          <a:xfrm>
            <a:off x="6537960" y="2331720"/>
            <a:ext cx="228600" cy="228600"/>
          </a:xfrm>
          <a:prstGeom prst="rect">
            <a:avLst/>
          </a:prstGeom>
        </p:spPr>
      </p:pic>
      <p:sp>
        <p:nvSpPr>
          <p:cNvPr id="12" name="Text 7"/>
          <p:cNvSpPr txBox="1"/>
          <p:nvPr/>
        </p:nvSpPr>
        <p:spPr>
          <a:xfrm>
            <a:off x="6812280" y="2258568"/>
            <a:ext cx="1508760" cy="374904"/>
          </a:xfrm>
          <a:prstGeom prst="rect">
            <a:avLst/>
          </a:prstGeom>
          <a:noFill/>
          <a:ln/>
        </p:spPr>
        <p:txBody>
          <a:bodyPr wrap="square" lIns="0" tIns="0" rIns="0" bIns="0" rtlCol="0" anchor="ctr"/>
          <a:lstStyle/>
          <a:p>
            <a:pPr algn="l" indent="0" marL="0">
              <a:buNone/>
            </a:pPr>
            <a:r>
              <a:rPr lang="en-US" sz="1300" b="1" dirty="0">
                <a:solidFill>
                  <a:srgbClr val="E4572E"/>
                </a:solidFill>
                <a:latin typeface="Arial" pitchFamily="34" charset="0"/>
                <a:ea typeface="Arial" pitchFamily="34" charset="-122"/>
                <a:cs typeface="Arial" pitchFamily="34" charset="-120"/>
              </a:rPr>
              <a:t>Two successes</a:t>
            </a:r>
            <a:endParaRPr lang="en-US" sz="1300" dirty="0"/>
          </a:p>
        </p:txBody>
      </p:sp>
      <p:sp>
        <p:nvSpPr>
          <p:cNvPr id="13" name="Shape 8"/>
          <p:cNvSpPr/>
          <p:nvPr/>
        </p:nvSpPr>
        <p:spPr>
          <a:xfrm>
            <a:off x="457200" y="2926080"/>
            <a:ext cx="8229600" cy="6858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pic>
        <p:nvPicPr>
          <p:cNvPr id="14" name="Image 3" descr="preencoded.png">    </p:cNvPr>
          <p:cNvPicPr>
            <a:picLocks noChangeAspect="1"/>
          </p:cNvPicPr>
          <p:nvPr/>
        </p:nvPicPr>
        <p:blipFill>
          <a:blip r:embed="rId4"/>
          <a:stretch>
            <a:fillRect/>
          </a:stretch>
        </p:blipFill>
        <p:spPr>
          <a:xfrm>
            <a:off x="621792" y="3054096"/>
            <a:ext cx="429768" cy="429768"/>
          </a:xfrm>
          <a:prstGeom prst="rect">
            <a:avLst/>
          </a:prstGeom>
        </p:spPr>
      </p:pic>
      <p:sp>
        <p:nvSpPr>
          <p:cNvPr id="15" name="Text 9"/>
          <p:cNvSpPr txBox="1"/>
          <p:nvPr/>
        </p:nvSpPr>
        <p:spPr>
          <a:xfrm>
            <a:off x="1234440" y="2926080"/>
            <a:ext cx="4892040" cy="685800"/>
          </a:xfrm>
          <a:prstGeom prst="rect">
            <a:avLst/>
          </a:prstGeom>
          <a:noFill/>
          <a:ln/>
        </p:spPr>
        <p:txBody>
          <a:bodyPr wrap="square" lIns="0" tIns="0" rIns="0" bIns="0" rtlCol="0" anchor="ctr"/>
          <a:lstStyle/>
          <a:p>
            <a:pPr algn="l" indent="0" marL="0">
              <a:buNone/>
            </a:pPr>
            <a:r>
              <a:rPr lang="en-US" sz="1800" b="1" dirty="0">
                <a:solidFill>
                  <a:srgbClr val="12313F"/>
                </a:solidFill>
                <a:latin typeface="Arial" pitchFamily="34" charset="0"/>
                <a:ea typeface="Arial" pitchFamily="34" charset="-122"/>
                <a:cs typeface="Arial" pitchFamily="34" charset="-120"/>
              </a:rPr>
              <a:t>Verify that only one request succeeds and the other is rejected.</a:t>
            </a:r>
            <a:endParaRPr lang="en-US" sz="1800" dirty="0"/>
          </a:p>
        </p:txBody>
      </p:sp>
      <p:sp>
        <p:nvSpPr>
          <p:cNvPr id="16" name="Shape 10"/>
          <p:cNvSpPr/>
          <p:nvPr/>
        </p:nvSpPr>
        <p:spPr>
          <a:xfrm>
            <a:off x="6400800" y="3081528"/>
            <a:ext cx="2011680" cy="374904"/>
          </a:xfrm>
          <a:prstGeom prst="roundRect">
            <a:avLst>
              <a:gd name="adj" fmla="val 48780"/>
            </a:avLst>
          </a:prstGeom>
          <a:solidFill>
            <a:srgbClr val="E3F5EC"/>
          </a:solidFill>
          <a:ln w="12700">
            <a:solidFill>
              <a:srgbClr val="E3F5EC"/>
            </a:solidFill>
            <a:prstDash val="solid"/>
          </a:ln>
        </p:spPr>
      </p:sp>
      <p:pic>
        <p:nvPicPr>
          <p:cNvPr id="17" name="Image 4" descr="preencoded.png">    </p:cNvPr>
          <p:cNvPicPr>
            <a:picLocks noChangeAspect="1"/>
          </p:cNvPicPr>
          <p:nvPr/>
        </p:nvPicPr>
        <p:blipFill>
          <a:blip r:embed="rId5"/>
          <a:stretch>
            <a:fillRect/>
          </a:stretch>
        </p:blipFill>
        <p:spPr>
          <a:xfrm>
            <a:off x="6537960" y="3154680"/>
            <a:ext cx="228600" cy="228600"/>
          </a:xfrm>
          <a:prstGeom prst="rect">
            <a:avLst/>
          </a:prstGeom>
        </p:spPr>
      </p:pic>
      <p:sp>
        <p:nvSpPr>
          <p:cNvPr id="18" name="Text 11"/>
          <p:cNvSpPr txBox="1"/>
          <p:nvPr/>
        </p:nvSpPr>
        <p:spPr>
          <a:xfrm>
            <a:off x="6812280" y="3081528"/>
            <a:ext cx="1508760" cy="374904"/>
          </a:xfrm>
          <a:prstGeom prst="rect">
            <a:avLst/>
          </a:prstGeom>
          <a:noFill/>
          <a:ln/>
        </p:spPr>
        <p:txBody>
          <a:bodyPr wrap="square" lIns="0" tIns="0" rIns="0" bIns="0" rtlCol="0" anchor="ctr"/>
          <a:lstStyle/>
          <a:p>
            <a:pPr algn="l" indent="0" marL="0">
              <a:buNone/>
            </a:pPr>
            <a:r>
              <a:rPr lang="en-US" sz="1300" b="1" dirty="0">
                <a:solidFill>
                  <a:srgbClr val="1F9D6B"/>
                </a:solidFill>
                <a:latin typeface="Arial" pitchFamily="34" charset="0"/>
                <a:ea typeface="Arial" pitchFamily="34" charset="-122"/>
                <a:cs typeface="Arial" pitchFamily="34" charset="-120"/>
              </a:rPr>
              <a:t>Exactly one</a:t>
            </a:r>
            <a:endParaRPr lang="en-US" sz="1300" dirty="0"/>
          </a:p>
        </p:txBody>
      </p:sp>
      <p:sp>
        <p:nvSpPr>
          <p:cNvPr id="19" name="Shape 12"/>
          <p:cNvSpPr/>
          <p:nvPr/>
        </p:nvSpPr>
        <p:spPr>
          <a:xfrm>
            <a:off x="457200" y="3749040"/>
            <a:ext cx="8229600" cy="6858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pic>
        <p:nvPicPr>
          <p:cNvPr id="20" name="Image 5" descr="preencoded.png">    </p:cNvPr>
          <p:cNvPicPr>
            <a:picLocks noChangeAspect="1"/>
          </p:cNvPicPr>
          <p:nvPr/>
        </p:nvPicPr>
        <p:blipFill>
          <a:blip r:embed="rId6"/>
          <a:stretch>
            <a:fillRect/>
          </a:stretch>
        </p:blipFill>
        <p:spPr>
          <a:xfrm>
            <a:off x="621792" y="3877056"/>
            <a:ext cx="429768" cy="429768"/>
          </a:xfrm>
          <a:prstGeom prst="rect">
            <a:avLst/>
          </a:prstGeom>
        </p:spPr>
      </p:pic>
      <p:sp>
        <p:nvSpPr>
          <p:cNvPr id="21" name="Text 13"/>
          <p:cNvSpPr txBox="1"/>
          <p:nvPr/>
        </p:nvSpPr>
        <p:spPr>
          <a:xfrm>
            <a:off x="1234440" y="3749040"/>
            <a:ext cx="7178040" cy="685800"/>
          </a:xfrm>
          <a:prstGeom prst="rect">
            <a:avLst/>
          </a:prstGeom>
          <a:noFill/>
          <a:ln/>
        </p:spPr>
        <p:txBody>
          <a:bodyPr wrap="square" lIns="0" tIns="0" rIns="0" bIns="0" rtlCol="0" anchor="ctr"/>
          <a:lstStyle/>
          <a:p>
            <a:pPr algn="l" indent="0" marL="0">
              <a:buNone/>
            </a:pPr>
            <a:r>
              <a:rPr lang="en-US" sz="1800" b="1" dirty="0">
                <a:solidFill>
                  <a:srgbClr val="12313F"/>
                </a:solidFill>
                <a:latin typeface="Arial" pitchFamily="34" charset="0"/>
                <a:ea typeface="Arial" pitchFamily="34" charset="-122"/>
                <a:cs typeface="Arial" pitchFamily="34" charset="-120"/>
              </a:rPr>
              <a:t>Show the test result clearly and directly.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7F8"/>
        </a:solidFill>
      </p:bgPr>
    </p:bg>
    <p:spTree>
      <p:nvGrpSpPr>
        <p:cNvPr id="1" name=""/>
        <p:cNvGrpSpPr/>
        <p:nvPr/>
      </p:nvGrpSpPr>
      <p:grpSpPr>
        <a:xfrm>
          <a:off x="0" y="0"/>
          <a:ext cx="0" cy="0"/>
          <a:chOff x="0" y="0"/>
          <a:chExt cx="0" cy="0"/>
        </a:xfrm>
      </p:grpSpPr>
      <p:sp>
        <p:nvSpPr>
          <p:cNvPr id="2" name="Text 0"/>
          <p:cNvSpPr txBox="1"/>
          <p:nvPr/>
        </p:nvSpPr>
        <p:spPr>
          <a:xfrm>
            <a:off x="484632" y="365760"/>
            <a:ext cx="566928" cy="566928"/>
          </a:xfrm>
          <a:prstGeom prst="ellipse">
            <a:avLst/>
          </a:prstGeom>
          <a:solidFill>
            <a:srgbClr val="0E7C86"/>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3" name="Text 1"/>
          <p:cNvSpPr txBox="1"/>
          <p:nvPr/>
        </p:nvSpPr>
        <p:spPr>
          <a:xfrm>
            <a:off x="1234440" y="320040"/>
            <a:ext cx="7452360" cy="658368"/>
          </a:xfrm>
          <a:prstGeom prst="rect">
            <a:avLst/>
          </a:prstGeom>
          <a:noFill/>
          <a:ln/>
        </p:spPr>
        <p:txBody>
          <a:bodyPr wrap="square" lIns="0" tIns="0" rIns="0" bIns="0" rtlCol="0" anchor="ctr"/>
          <a:lstStyle/>
          <a:p>
            <a:pPr algn="l" indent="0" marL="0">
              <a:buNone/>
            </a:pPr>
            <a:r>
              <a:rPr lang="en-US" sz="2600" b="1" dirty="0">
                <a:solidFill>
                  <a:srgbClr val="12313F"/>
                </a:solidFill>
                <a:latin typeface="Arial" pitchFamily="34" charset="0"/>
                <a:ea typeface="Arial" pitchFamily="34" charset="-122"/>
                <a:cs typeface="Arial" pitchFamily="34" charset="-120"/>
              </a:rPr>
              <a:t>Appointment Shape in the Database (Appointment.js)</a:t>
            </a:r>
            <a:endParaRPr lang="en-US" sz="2600" dirty="0"/>
          </a:p>
        </p:txBody>
      </p:sp>
      <p:sp>
        <p:nvSpPr>
          <p:cNvPr id="4" name="Shape 2"/>
          <p:cNvSpPr/>
          <p:nvPr/>
        </p:nvSpPr>
        <p:spPr>
          <a:xfrm>
            <a:off x="457200" y="1280160"/>
            <a:ext cx="4114800" cy="914400"/>
          </a:xfrm>
          <a:prstGeom prst="roundRect">
            <a:avLst>
              <a:gd name="adj" fmla="val 12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594360" y="1463040"/>
            <a:ext cx="548640" cy="548640"/>
          </a:xfrm>
          <a:prstGeom prst="ellipse">
            <a:avLst/>
          </a:prstGeom>
          <a:solidFill>
            <a:srgbClr val="0E7C86"/>
          </a:solidFill>
          <a:ln w="12700">
            <a:solidFill>
              <a:srgbClr val="0E7C86"/>
            </a:solidFill>
            <a:prstDash val="solid"/>
          </a:ln>
        </p:spPr>
      </p:sp>
      <p:pic>
        <p:nvPicPr>
          <p:cNvPr id="6" name="Image 0" descr="preencoded.png">    </p:cNvPr>
          <p:cNvPicPr>
            <a:picLocks noChangeAspect="1"/>
          </p:cNvPicPr>
          <p:nvPr/>
        </p:nvPicPr>
        <p:blipFill>
          <a:blip r:embed="rId1"/>
          <a:stretch>
            <a:fillRect/>
          </a:stretch>
        </p:blipFill>
        <p:spPr>
          <a:xfrm>
            <a:off x="731520" y="1600200"/>
            <a:ext cx="274320" cy="274320"/>
          </a:xfrm>
          <a:prstGeom prst="rect">
            <a:avLst/>
          </a:prstGeom>
        </p:spPr>
      </p:pic>
      <p:sp>
        <p:nvSpPr>
          <p:cNvPr id="7" name="Text 4"/>
          <p:cNvSpPr txBox="1"/>
          <p:nvPr/>
        </p:nvSpPr>
        <p:spPr>
          <a:xfrm>
            <a:off x="1280160" y="1280160"/>
            <a:ext cx="3108960" cy="914400"/>
          </a:xfrm>
          <a:prstGeom prst="rect">
            <a:avLst/>
          </a:prstGeom>
          <a:noFill/>
          <a:ln/>
        </p:spPr>
        <p:txBody>
          <a:bodyPr wrap="square" lIns="0" tIns="0" rIns="0" bIns="0" rtlCol="0" anchor="ctr"/>
          <a:lstStyle/>
          <a:p>
            <a:pPr algn="l" indent="0" marL="0">
              <a:buNone/>
            </a:pPr>
            <a:r>
              <a:rPr lang="en-US" sz="1500" dirty="0">
                <a:solidFill>
                  <a:srgbClr val="12313F"/>
                </a:solidFill>
                <a:latin typeface="Arial" pitchFamily="34" charset="0"/>
                <a:ea typeface="Arial" pitchFamily="34" charset="-122"/>
                <a:cs typeface="Arial" pitchFamily="34" charset="-120"/>
              </a:rPr>
              <a:t>The slotTime field holds the slot's time and has a unique constraint.</a:t>
            </a:r>
            <a:endParaRPr lang="en-US" sz="1500" dirty="0"/>
          </a:p>
        </p:txBody>
      </p:sp>
      <p:sp>
        <p:nvSpPr>
          <p:cNvPr id="8" name="Shape 5"/>
          <p:cNvSpPr/>
          <p:nvPr/>
        </p:nvSpPr>
        <p:spPr>
          <a:xfrm>
            <a:off x="457200" y="2377440"/>
            <a:ext cx="4114800" cy="914400"/>
          </a:xfrm>
          <a:prstGeom prst="roundRect">
            <a:avLst>
              <a:gd name="adj" fmla="val 12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9" name="Shape 6"/>
          <p:cNvSpPr/>
          <p:nvPr/>
        </p:nvSpPr>
        <p:spPr>
          <a:xfrm>
            <a:off x="594360" y="2560320"/>
            <a:ext cx="548640" cy="548640"/>
          </a:xfrm>
          <a:prstGeom prst="ellipse">
            <a:avLst/>
          </a:prstGeom>
          <a:solidFill>
            <a:srgbClr val="0E7C86"/>
          </a:solidFill>
          <a:ln w="12700">
            <a:solidFill>
              <a:srgbClr val="0E7C86"/>
            </a:solidFill>
            <a:prstDash val="solid"/>
          </a:ln>
        </p:spPr>
      </p:sp>
      <p:pic>
        <p:nvPicPr>
          <p:cNvPr id="10" name="Image 1" descr="preencoded.png">    </p:cNvPr>
          <p:cNvPicPr>
            <a:picLocks noChangeAspect="1"/>
          </p:cNvPicPr>
          <p:nvPr/>
        </p:nvPicPr>
        <p:blipFill>
          <a:blip r:embed="rId2"/>
          <a:stretch>
            <a:fillRect/>
          </a:stretch>
        </p:blipFill>
        <p:spPr>
          <a:xfrm>
            <a:off x="731520" y="2697480"/>
            <a:ext cx="274320" cy="274320"/>
          </a:xfrm>
          <a:prstGeom prst="rect">
            <a:avLst/>
          </a:prstGeom>
        </p:spPr>
      </p:pic>
      <p:sp>
        <p:nvSpPr>
          <p:cNvPr id="11" name="Text 7"/>
          <p:cNvSpPr txBox="1"/>
          <p:nvPr/>
        </p:nvSpPr>
        <p:spPr>
          <a:xfrm>
            <a:off x="1280160" y="2377440"/>
            <a:ext cx="3108960" cy="914400"/>
          </a:xfrm>
          <a:prstGeom prst="rect">
            <a:avLst/>
          </a:prstGeom>
          <a:noFill/>
          <a:ln/>
        </p:spPr>
        <p:txBody>
          <a:bodyPr wrap="square" lIns="0" tIns="0" rIns="0" bIns="0" rtlCol="0" anchor="ctr"/>
          <a:lstStyle/>
          <a:p>
            <a:pPr algn="l" indent="0" marL="0">
              <a:buNone/>
            </a:pPr>
            <a:r>
              <a:rPr lang="en-US" sz="1500" dirty="0">
                <a:solidFill>
                  <a:srgbClr val="12313F"/>
                </a:solidFill>
                <a:latin typeface="Arial" pitchFamily="34" charset="0"/>
                <a:ea typeface="Arial" pitchFamily="34" charset="-122"/>
                <a:cs typeface="Arial" pitchFamily="34" charset="-120"/>
              </a:rPr>
              <a:t>The status field starts as AVAILABLE.</a:t>
            </a:r>
            <a:endParaRPr lang="en-US" sz="1500" dirty="0"/>
          </a:p>
        </p:txBody>
      </p:sp>
      <p:sp>
        <p:nvSpPr>
          <p:cNvPr id="12" name="Shape 8"/>
          <p:cNvSpPr/>
          <p:nvPr/>
        </p:nvSpPr>
        <p:spPr>
          <a:xfrm>
            <a:off x="457200" y="3474720"/>
            <a:ext cx="4114800" cy="914400"/>
          </a:xfrm>
          <a:prstGeom prst="roundRect">
            <a:avLst>
              <a:gd name="adj" fmla="val 12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Shape 9"/>
          <p:cNvSpPr/>
          <p:nvPr/>
        </p:nvSpPr>
        <p:spPr>
          <a:xfrm>
            <a:off x="594360" y="3657600"/>
            <a:ext cx="548640" cy="548640"/>
          </a:xfrm>
          <a:prstGeom prst="ellipse">
            <a:avLst/>
          </a:prstGeom>
          <a:solidFill>
            <a:srgbClr val="0E7C86"/>
          </a:solidFill>
          <a:ln w="12700">
            <a:solidFill>
              <a:srgbClr val="0E7C86"/>
            </a:solidFill>
            <a:prstDash val="solid"/>
          </a:ln>
        </p:spPr>
      </p:sp>
      <p:pic>
        <p:nvPicPr>
          <p:cNvPr id="14" name="Image 2" descr="preencoded.png">    </p:cNvPr>
          <p:cNvPicPr>
            <a:picLocks noChangeAspect="1"/>
          </p:cNvPicPr>
          <p:nvPr/>
        </p:nvPicPr>
        <p:blipFill>
          <a:blip r:embed="rId3"/>
          <a:stretch>
            <a:fillRect/>
          </a:stretch>
        </p:blipFill>
        <p:spPr>
          <a:xfrm>
            <a:off x="731520" y="3794760"/>
            <a:ext cx="274320" cy="274320"/>
          </a:xfrm>
          <a:prstGeom prst="rect">
            <a:avLst/>
          </a:prstGeom>
        </p:spPr>
      </p:pic>
      <p:sp>
        <p:nvSpPr>
          <p:cNvPr id="15" name="Text 10"/>
          <p:cNvSpPr txBox="1"/>
          <p:nvPr/>
        </p:nvSpPr>
        <p:spPr>
          <a:xfrm>
            <a:off x="1280160" y="3474720"/>
            <a:ext cx="3108960" cy="914400"/>
          </a:xfrm>
          <a:prstGeom prst="rect">
            <a:avLst/>
          </a:prstGeom>
          <a:noFill/>
          <a:ln/>
        </p:spPr>
        <p:txBody>
          <a:bodyPr wrap="square" lIns="0" tIns="0" rIns="0" bIns="0" rtlCol="0" anchor="ctr"/>
          <a:lstStyle/>
          <a:p>
            <a:pPr algn="l" indent="0" marL="0">
              <a:buNone/>
            </a:pPr>
            <a:r>
              <a:rPr lang="en-US" sz="1500" dirty="0">
                <a:solidFill>
                  <a:srgbClr val="12313F"/>
                </a:solidFill>
                <a:latin typeface="Arial" pitchFamily="34" charset="0"/>
                <a:ea typeface="Arial" pitchFamily="34" charset="-122"/>
                <a:cs typeface="Arial" pitchFamily="34" charset="-120"/>
              </a:rPr>
              <a:t>After booking, it becomes BOOKED and the patientId is recorded.</a:t>
            </a:r>
            <a:endParaRPr lang="en-US" sz="1500" dirty="0"/>
          </a:p>
        </p:txBody>
      </p:sp>
      <p:sp>
        <p:nvSpPr>
          <p:cNvPr id="16" name="Text 11"/>
          <p:cNvSpPr txBox="1"/>
          <p:nvPr/>
        </p:nvSpPr>
        <p:spPr>
          <a:xfrm>
            <a:off x="4846320" y="1280160"/>
            <a:ext cx="1828800" cy="274320"/>
          </a:xfrm>
          <a:prstGeom prst="rect">
            <a:avLst/>
          </a:prstGeom>
          <a:noFill/>
          <a:ln/>
        </p:spPr>
        <p:txBody>
          <a:bodyPr wrap="square" lIns="0" tIns="0" rIns="0" bIns="0" rtlCol="0" anchor="ctr"/>
          <a:lstStyle/>
          <a:p>
            <a:pPr algn="l" indent="0" marL="0">
              <a:buNone/>
            </a:pPr>
            <a:r>
              <a:rPr lang="en-US" sz="1200" b="1" dirty="0">
                <a:solidFill>
                  <a:srgbClr val="5B7480"/>
                </a:solidFill>
                <a:latin typeface="Arial" pitchFamily="34" charset="0"/>
                <a:ea typeface="Arial" pitchFamily="34" charset="-122"/>
                <a:cs typeface="Arial" pitchFamily="34" charset="-120"/>
              </a:rPr>
              <a:t>Before booking</a:t>
            </a:r>
            <a:endParaRPr lang="en-US" sz="1200" dirty="0"/>
          </a:p>
        </p:txBody>
      </p:sp>
      <p:sp>
        <p:nvSpPr>
          <p:cNvPr id="17" name="Shape 12"/>
          <p:cNvSpPr/>
          <p:nvPr/>
        </p:nvSpPr>
        <p:spPr>
          <a:xfrm>
            <a:off x="4846320" y="1572768"/>
            <a:ext cx="3840480" cy="1234440"/>
          </a:xfrm>
          <a:prstGeom prst="roundRect">
            <a:avLst>
              <a:gd name="adj" fmla="val 8889"/>
            </a:avLst>
          </a:prstGeom>
          <a:solidFill>
            <a:srgbClr val="0B2A3A"/>
          </a:solidFill>
          <a:ln w="12700">
            <a:solidFill>
              <a:srgbClr val="0B2A3A"/>
            </a:solidFill>
            <a:prstDash val="solid"/>
          </a:ln>
          <a:effectLst>
            <a:outerShdw sx="100000" sy="100000" kx="0" ky="0" algn="bl" rotWithShape="0" blurRad="101600" dist="25400" dir="5400000">
              <a:srgbClr val="000000">
                <a:alpha val="12000"/>
              </a:srgbClr>
            </a:outerShdw>
          </a:effectLst>
        </p:spPr>
      </p:sp>
      <p:sp>
        <p:nvSpPr>
          <p:cNvPr id="18" name="Text 13"/>
          <p:cNvSpPr txBox="1"/>
          <p:nvPr/>
        </p:nvSpPr>
        <p:spPr>
          <a:xfrm>
            <a:off x="4937760" y="1618488"/>
            <a:ext cx="3566160" cy="1143000"/>
          </a:xfrm>
          <a:prstGeom prst="rect">
            <a:avLst/>
          </a:prstGeom>
          <a:noFill/>
          <a:ln/>
        </p:spPr>
        <p:txBody>
          <a:bodyPr wrap="square" lIns="0" tIns="0" rIns="0" bIns="0" rtlCol="0" anchor="ctr"/>
          <a:lstStyle/>
          <a:p>
            <a:pPr algn="l" indent="0" marL="0">
              <a:buNone/>
            </a:pPr>
            <a:r>
              <a:rPr lang="en-US" sz="1100" dirty="0">
                <a:solidFill>
                  <a:srgbClr val="E6F1F3"/>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rgbClr val="E6F1F3"/>
                </a:solidFill>
                <a:latin typeface="Courier New" pitchFamily="34" charset="0"/>
                <a:ea typeface="Courier New" pitchFamily="34" charset="-122"/>
                <a:cs typeface="Courier New" pitchFamily="34" charset="-120"/>
              </a:rPr>
              <a:t>  "slotTime": "2026-10-01T10:00",</a:t>
            </a:r>
            <a:endParaRPr lang="en-US" sz="1100" dirty="0"/>
          </a:p>
          <a:p>
            <a:pPr algn="l" indent="0" marL="0">
              <a:buNone/>
            </a:pPr>
            <a:r>
              <a:rPr lang="en-US" sz="1100" dirty="0">
                <a:solidFill>
                  <a:srgbClr val="E6F1F3"/>
                </a:solidFill>
                <a:latin typeface="Courier New" pitchFamily="34" charset="0"/>
                <a:ea typeface="Courier New" pitchFamily="34" charset="-122"/>
                <a:cs typeface="Courier New" pitchFamily="34" charset="-120"/>
              </a:rPr>
              <a:t>  "status": "AVAILABLE",</a:t>
            </a:r>
            <a:endParaRPr lang="en-US" sz="1100" dirty="0"/>
          </a:p>
          <a:p>
            <a:pPr algn="l" indent="0" marL="0">
              <a:buNone/>
            </a:pPr>
            <a:r>
              <a:rPr lang="en-US" sz="1100" dirty="0">
                <a:solidFill>
                  <a:srgbClr val="E6F1F3"/>
                </a:solidFill>
                <a:latin typeface="Courier New" pitchFamily="34" charset="0"/>
                <a:ea typeface="Courier New" pitchFamily="34" charset="-122"/>
                <a:cs typeface="Courier New" pitchFamily="34" charset="-120"/>
              </a:rPr>
              <a:t>  "patientId": null</a:t>
            </a:r>
            <a:endParaRPr lang="en-US" sz="1100" dirty="0"/>
          </a:p>
          <a:p>
            <a:pPr algn="l" indent="0" marL="0">
              <a:buNone/>
            </a:pPr>
            <a:r>
              <a:rPr lang="en-US" sz="1100" dirty="0">
                <a:solidFill>
                  <a:srgbClr val="E6F1F3"/>
                </a:solidFill>
                <a:latin typeface="Courier New" pitchFamily="34" charset="0"/>
                <a:ea typeface="Courier New" pitchFamily="34" charset="-122"/>
                <a:cs typeface="Courier New" pitchFamily="34" charset="-120"/>
              </a:rPr>
              <a:t>}</a:t>
            </a:r>
            <a:endParaRPr lang="en-US" sz="1100" dirty="0"/>
          </a:p>
        </p:txBody>
      </p:sp>
      <p:sp>
        <p:nvSpPr>
          <p:cNvPr id="19" name="Text 14"/>
          <p:cNvSpPr txBox="1"/>
          <p:nvPr/>
        </p:nvSpPr>
        <p:spPr>
          <a:xfrm>
            <a:off x="4846320" y="2971800"/>
            <a:ext cx="1828800" cy="274320"/>
          </a:xfrm>
          <a:prstGeom prst="rect">
            <a:avLst/>
          </a:prstGeom>
          <a:noFill/>
          <a:ln/>
        </p:spPr>
        <p:txBody>
          <a:bodyPr wrap="square" lIns="0" tIns="0" rIns="0" bIns="0" rtlCol="0" anchor="ctr"/>
          <a:lstStyle/>
          <a:p>
            <a:pPr algn="l" indent="0" marL="0">
              <a:buNone/>
            </a:pPr>
            <a:r>
              <a:rPr lang="en-US" sz="1200" b="1" dirty="0">
                <a:solidFill>
                  <a:srgbClr val="5B7480"/>
                </a:solidFill>
                <a:latin typeface="Arial" pitchFamily="34" charset="0"/>
                <a:ea typeface="Arial" pitchFamily="34" charset="-122"/>
                <a:cs typeface="Arial" pitchFamily="34" charset="-120"/>
              </a:rPr>
              <a:t>After booking</a:t>
            </a:r>
            <a:endParaRPr lang="en-US" sz="1200" dirty="0"/>
          </a:p>
        </p:txBody>
      </p:sp>
      <p:sp>
        <p:nvSpPr>
          <p:cNvPr id="20" name="Shape 15"/>
          <p:cNvSpPr/>
          <p:nvPr/>
        </p:nvSpPr>
        <p:spPr>
          <a:xfrm>
            <a:off x="4846320" y="3264408"/>
            <a:ext cx="3840480" cy="1234440"/>
          </a:xfrm>
          <a:prstGeom prst="roundRect">
            <a:avLst>
              <a:gd name="adj" fmla="val 8889"/>
            </a:avLst>
          </a:prstGeom>
          <a:solidFill>
            <a:srgbClr val="0B2A3A"/>
          </a:solidFill>
          <a:ln w="12700">
            <a:solidFill>
              <a:srgbClr val="0B2A3A"/>
            </a:solidFill>
            <a:prstDash val="solid"/>
          </a:ln>
          <a:effectLst>
            <a:outerShdw sx="100000" sy="100000" kx="0" ky="0" algn="bl" rotWithShape="0" blurRad="101600" dist="25400" dir="5400000">
              <a:srgbClr val="000000">
                <a:alpha val="12000"/>
              </a:srgbClr>
            </a:outerShdw>
          </a:effectLst>
        </p:spPr>
      </p:sp>
      <p:sp>
        <p:nvSpPr>
          <p:cNvPr id="21" name="Text 16"/>
          <p:cNvSpPr txBox="1"/>
          <p:nvPr/>
        </p:nvSpPr>
        <p:spPr>
          <a:xfrm>
            <a:off x="4937760" y="3310128"/>
            <a:ext cx="3566160" cy="1143000"/>
          </a:xfrm>
          <a:prstGeom prst="rect">
            <a:avLst/>
          </a:prstGeom>
          <a:noFill/>
          <a:ln/>
        </p:spPr>
        <p:txBody>
          <a:bodyPr wrap="square" lIns="0" tIns="0" rIns="0" bIns="0" rtlCol="0" anchor="ctr"/>
          <a:lstStyle/>
          <a:p>
            <a:pPr algn="l" indent="0" marL="0">
              <a:buNone/>
            </a:pPr>
            <a:r>
              <a:rPr lang="en-US" sz="1100" dirty="0">
                <a:solidFill>
                  <a:srgbClr val="E6F1F3"/>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rgbClr val="E6F1F3"/>
                </a:solidFill>
                <a:latin typeface="Courier New" pitchFamily="34" charset="0"/>
                <a:ea typeface="Courier New" pitchFamily="34" charset="-122"/>
                <a:cs typeface="Courier New" pitchFamily="34" charset="-120"/>
              </a:rPr>
              <a:t>  "slotTime": "2026-10-01T10:00",</a:t>
            </a:r>
            <a:endParaRPr lang="en-US" sz="1100" dirty="0"/>
          </a:p>
          <a:p>
            <a:pPr algn="l" indent="0" marL="0">
              <a:buNone/>
            </a:pPr>
            <a:r>
              <a:rPr lang="en-US" sz="1100" dirty="0">
                <a:solidFill>
                  <a:srgbClr val="E6F1F3"/>
                </a:solidFill>
                <a:latin typeface="Courier New" pitchFamily="34" charset="0"/>
                <a:ea typeface="Courier New" pitchFamily="34" charset="-122"/>
                <a:cs typeface="Courier New" pitchFamily="34" charset="-120"/>
              </a:rPr>
              <a:t>  "status": "BOOKED",</a:t>
            </a:r>
            <a:endParaRPr lang="en-US" sz="1100" dirty="0"/>
          </a:p>
          <a:p>
            <a:pPr algn="l" indent="0" marL="0">
              <a:buNone/>
            </a:pPr>
            <a:r>
              <a:rPr lang="en-US" sz="1100" dirty="0">
                <a:solidFill>
                  <a:srgbClr val="E6F1F3"/>
                </a:solidFill>
                <a:latin typeface="Courier New" pitchFamily="34" charset="0"/>
                <a:ea typeface="Courier New" pitchFamily="34" charset="-122"/>
                <a:cs typeface="Courier New" pitchFamily="34" charset="-120"/>
              </a:rPr>
              <a:t>  "patientId": "&lt;patientId&gt;"</a:t>
            </a:r>
            <a:endParaRPr lang="en-US" sz="1100" dirty="0"/>
          </a:p>
          <a:p>
            <a:pPr algn="l" indent="0" marL="0">
              <a:buNone/>
            </a:pPr>
            <a:r>
              <a:rPr lang="en-US" sz="1100" dirty="0">
                <a:solidFill>
                  <a:srgbClr val="E6F1F3"/>
                </a:solidFill>
                <a:latin typeface="Courier New" pitchFamily="34" charset="0"/>
                <a:ea typeface="Courier New" pitchFamily="34" charset="-122"/>
                <a:cs typeface="Courier New" pitchFamily="34" charset="-120"/>
              </a:rPr>
              <a: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7F8"/>
        </a:solidFill>
      </p:bgPr>
    </p:bg>
    <p:spTree>
      <p:nvGrpSpPr>
        <p:cNvPr id="1" name=""/>
        <p:cNvGrpSpPr/>
        <p:nvPr/>
      </p:nvGrpSpPr>
      <p:grpSpPr>
        <a:xfrm>
          <a:off x="0" y="0"/>
          <a:ext cx="0" cy="0"/>
          <a:chOff x="0" y="0"/>
          <a:chExt cx="0" cy="0"/>
        </a:xfrm>
      </p:grpSpPr>
      <p:sp>
        <p:nvSpPr>
          <p:cNvPr id="2" name="Text 0"/>
          <p:cNvSpPr txBox="1"/>
          <p:nvPr/>
        </p:nvSpPr>
        <p:spPr>
          <a:xfrm>
            <a:off x="484632" y="365760"/>
            <a:ext cx="566928" cy="566928"/>
          </a:xfrm>
          <a:prstGeom prst="ellipse">
            <a:avLst/>
          </a:prstGeom>
          <a:solidFill>
            <a:srgbClr val="0E7C86"/>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 name="Text 1"/>
          <p:cNvSpPr txBox="1"/>
          <p:nvPr/>
        </p:nvSpPr>
        <p:spPr>
          <a:xfrm>
            <a:off x="1234440" y="320040"/>
            <a:ext cx="7452360" cy="658368"/>
          </a:xfrm>
          <a:prstGeom prst="rect">
            <a:avLst/>
          </a:prstGeom>
          <a:noFill/>
          <a:ln/>
        </p:spPr>
        <p:txBody>
          <a:bodyPr wrap="square" lIns="0" tIns="0" rIns="0" bIns="0" rtlCol="0" anchor="ctr"/>
          <a:lstStyle/>
          <a:p>
            <a:pPr algn="l" indent="0" marL="0">
              <a:buNone/>
            </a:pPr>
            <a:r>
              <a:rPr lang="en-US" sz="2600" b="1" dirty="0">
                <a:solidFill>
                  <a:srgbClr val="12313F"/>
                </a:solidFill>
                <a:latin typeface="Arial" pitchFamily="34" charset="0"/>
                <a:ea typeface="Arial" pitchFamily="34" charset="-122"/>
                <a:cs typeface="Arial" pitchFamily="34" charset="-120"/>
              </a:rPr>
              <a:t>Booking Code &amp; the findOneAndUpdate Logic</a:t>
            </a:r>
            <a:endParaRPr lang="en-US" sz="2600" dirty="0"/>
          </a:p>
        </p:txBody>
      </p:sp>
      <p:sp>
        <p:nvSpPr>
          <p:cNvPr id="4" name="Shape 2"/>
          <p:cNvSpPr/>
          <p:nvPr/>
        </p:nvSpPr>
        <p:spPr>
          <a:xfrm>
            <a:off x="457200" y="1371600"/>
            <a:ext cx="201168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1188720" y="1463040"/>
            <a:ext cx="548640" cy="548640"/>
          </a:xfrm>
          <a:prstGeom prst="ellipse">
            <a:avLst/>
          </a:prstGeom>
          <a:solidFill>
            <a:srgbClr val="0E7C86"/>
          </a:solidFill>
          <a:ln w="12700">
            <a:solidFill>
              <a:srgbClr val="0E7C86"/>
            </a:solidFill>
            <a:prstDash val="solid"/>
          </a:ln>
        </p:spPr>
      </p:sp>
      <p:pic>
        <p:nvPicPr>
          <p:cNvPr id="6" name="Image 0" descr="preencoded.png">    </p:cNvPr>
          <p:cNvPicPr>
            <a:picLocks noChangeAspect="1"/>
          </p:cNvPicPr>
          <p:nvPr/>
        </p:nvPicPr>
        <p:blipFill>
          <a:blip r:embed="rId1"/>
          <a:stretch>
            <a:fillRect/>
          </a:stretch>
        </p:blipFill>
        <p:spPr>
          <a:xfrm>
            <a:off x="1325880" y="1600200"/>
            <a:ext cx="274320" cy="274320"/>
          </a:xfrm>
          <a:prstGeom prst="rect">
            <a:avLst/>
          </a:prstGeom>
        </p:spPr>
      </p:pic>
      <p:sp>
        <p:nvSpPr>
          <p:cNvPr id="7" name="Text 4"/>
          <p:cNvSpPr txBox="1"/>
          <p:nvPr/>
        </p:nvSpPr>
        <p:spPr>
          <a:xfrm>
            <a:off x="548640" y="2057400"/>
            <a:ext cx="1828800" cy="640080"/>
          </a:xfrm>
          <a:prstGeom prst="rect">
            <a:avLst/>
          </a:prstGeom>
          <a:noFill/>
          <a:ln/>
        </p:spPr>
        <p:txBody>
          <a:bodyPr wrap="square" lIns="0" tIns="0" rIns="0" bIns="0" rtlCol="0" anchor="ctr"/>
          <a:lstStyle/>
          <a:p>
            <a:pPr algn="ctr" indent="0" marL="0">
              <a:buNone/>
            </a:pPr>
            <a:r>
              <a:rPr lang="en-US" sz="1400" b="1" dirty="0">
                <a:solidFill>
                  <a:srgbClr val="12313F"/>
                </a:solidFill>
                <a:latin typeface="Arial" pitchFamily="34" charset="0"/>
                <a:ea typeface="Arial" pitchFamily="34" charset="-122"/>
                <a:cs typeface="Arial" pitchFamily="34" charset="-120"/>
              </a:rPr>
              <a:t>Booking request</a:t>
            </a:r>
            <a:endParaRPr lang="en-US" sz="1400" dirty="0"/>
          </a:p>
          <a:p>
            <a:pPr algn="ctr" indent="0" marL="0">
              <a:buNone/>
            </a:pPr>
            <a:r>
              <a:rPr lang="en-US" sz="1400" b="1" dirty="0">
                <a:solidFill>
                  <a:srgbClr val="12313F"/>
                </a:solidFill>
                <a:latin typeface="Arial" pitchFamily="34" charset="0"/>
                <a:ea typeface="Arial" pitchFamily="34" charset="-122"/>
                <a:cs typeface="Arial" pitchFamily="34" charset="-120"/>
              </a:rPr>
              <a:t>bookSlot</a:t>
            </a:r>
            <a:endParaRPr lang="en-US" sz="1400" dirty="0"/>
          </a:p>
        </p:txBody>
      </p:sp>
      <p:sp>
        <p:nvSpPr>
          <p:cNvPr id="8" name="Shape 5"/>
          <p:cNvSpPr/>
          <p:nvPr/>
        </p:nvSpPr>
        <p:spPr>
          <a:xfrm>
            <a:off x="2560320" y="1920240"/>
            <a:ext cx="548640" cy="320040"/>
          </a:xfrm>
          <a:prstGeom prst="rightArrow">
            <a:avLst/>
          </a:prstGeom>
          <a:solidFill>
            <a:srgbClr val="0E7C86"/>
          </a:solidFill>
          <a:ln w="12700">
            <a:solidFill>
              <a:srgbClr val="0E7C86"/>
            </a:solidFill>
            <a:prstDash val="solid"/>
          </a:ln>
        </p:spPr>
      </p:sp>
      <p:sp>
        <p:nvSpPr>
          <p:cNvPr id="9" name="Shape 6"/>
          <p:cNvSpPr/>
          <p:nvPr/>
        </p:nvSpPr>
        <p:spPr>
          <a:xfrm>
            <a:off x="3200400" y="1371600"/>
            <a:ext cx="2651760" cy="1417320"/>
          </a:xfrm>
          <a:prstGeom prst="roundRect">
            <a:avLst>
              <a:gd name="adj" fmla="val 7742"/>
            </a:avLst>
          </a:prstGeom>
          <a:solidFill>
            <a:srgbClr val="0B2A3A"/>
          </a:solidFill>
          <a:ln w="12700">
            <a:solidFill>
              <a:srgbClr val="0B2A3A"/>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3246120" y="1417320"/>
            <a:ext cx="2468880" cy="1325880"/>
          </a:xfrm>
          <a:prstGeom prst="rect">
            <a:avLst/>
          </a:prstGeom>
          <a:noFill/>
          <a:ln/>
        </p:spPr>
        <p:txBody>
          <a:bodyPr wrap="square" lIns="0" tIns="0" rIns="0" bIns="0" rtlCol="0" anchor="ctr"/>
          <a:lstStyle/>
          <a:p>
            <a:pPr algn="l" indent="0" marL="0">
              <a:buNone/>
            </a:pPr>
            <a:r>
              <a:rPr lang="en-US" sz="1100" dirty="0">
                <a:solidFill>
                  <a:srgbClr val="E6F1F3"/>
                </a:solidFill>
                <a:latin typeface="Courier New" pitchFamily="34" charset="0"/>
                <a:ea typeface="Courier New" pitchFamily="34" charset="-122"/>
                <a:cs typeface="Courier New" pitchFamily="34" charset="-120"/>
              </a:rPr>
              <a:t>findOneAndUpdate(</a:t>
            </a:r>
            <a:endParaRPr lang="en-US" sz="1100" dirty="0"/>
          </a:p>
          <a:p>
            <a:pPr algn="l" indent="0" marL="0">
              <a:buNone/>
            </a:pPr>
            <a:r>
              <a:rPr lang="en-US" sz="1100" dirty="0">
                <a:solidFill>
                  <a:srgbClr val="E6F1F3"/>
                </a:solidFill>
                <a:latin typeface="Courier New" pitchFamily="34" charset="0"/>
                <a:ea typeface="Courier New" pitchFamily="34" charset="-122"/>
                <a:cs typeface="Courier New" pitchFamily="34" charset="-120"/>
              </a:rPr>
              <a:t>  { _id: appointmentId,</a:t>
            </a:r>
            <a:endParaRPr lang="en-US" sz="1100" dirty="0"/>
          </a:p>
          <a:p>
            <a:pPr algn="l" indent="0" marL="0">
              <a:buNone/>
            </a:pPr>
            <a:r>
              <a:rPr lang="en-US" sz="1100" dirty="0">
                <a:solidFill>
                  <a:srgbClr val="E6F1F3"/>
                </a:solidFill>
                <a:latin typeface="Courier New" pitchFamily="34" charset="0"/>
                <a:ea typeface="Courier New" pitchFamily="34" charset="-122"/>
                <a:cs typeface="Courier New" pitchFamily="34" charset="-120"/>
              </a:rPr>
              <a:t>    status: 'AVAILABLE' },</a:t>
            </a:r>
            <a:endParaRPr lang="en-US" sz="1100" dirty="0"/>
          </a:p>
          <a:p>
            <a:pPr algn="l" indent="0" marL="0">
              <a:buNone/>
            </a:pPr>
            <a:r>
              <a:rPr lang="en-US" sz="1100" dirty="0">
                <a:solidFill>
                  <a:srgbClr val="E6F1F3"/>
                </a:solidFill>
                <a:latin typeface="Courier New" pitchFamily="34" charset="0"/>
                <a:ea typeface="Courier New" pitchFamily="34" charset="-122"/>
                <a:cs typeface="Courier New" pitchFamily="34" charset="-120"/>
              </a:rPr>
              <a:t>  { status: 'BOOKED' } )</a:t>
            </a:r>
            <a:endParaRPr lang="en-US" sz="1100" dirty="0"/>
          </a:p>
        </p:txBody>
      </p:sp>
      <p:sp>
        <p:nvSpPr>
          <p:cNvPr id="11" name="Shape 8"/>
          <p:cNvSpPr/>
          <p:nvPr/>
        </p:nvSpPr>
        <p:spPr>
          <a:xfrm>
            <a:off x="5943600" y="1920240"/>
            <a:ext cx="502920" cy="320040"/>
          </a:xfrm>
          <a:prstGeom prst="rightArrow">
            <a:avLst/>
          </a:prstGeom>
          <a:solidFill>
            <a:srgbClr val="0E7C86"/>
          </a:solidFill>
          <a:ln w="12700">
            <a:solidFill>
              <a:srgbClr val="0E7C86"/>
            </a:solidFill>
            <a:prstDash val="solid"/>
          </a:ln>
        </p:spPr>
      </p:sp>
      <p:sp>
        <p:nvSpPr>
          <p:cNvPr id="12" name="Shape 9"/>
          <p:cNvSpPr/>
          <p:nvPr/>
        </p:nvSpPr>
        <p:spPr>
          <a:xfrm>
            <a:off x="6537960" y="1371600"/>
            <a:ext cx="2148840" cy="658368"/>
          </a:xfrm>
          <a:prstGeom prst="roundRect">
            <a:avLst>
              <a:gd name="adj" fmla="val 16667"/>
            </a:avLst>
          </a:prstGeom>
          <a:solidFill>
            <a:srgbClr val="E3F5EC"/>
          </a:solidFill>
          <a:ln w="12700">
            <a:solidFill>
              <a:srgbClr val="E3F5EC"/>
            </a:solidFill>
            <a:prstDash val="solid"/>
          </a:ln>
        </p:spPr>
      </p:sp>
      <p:sp>
        <p:nvSpPr>
          <p:cNvPr id="13" name="Text 10"/>
          <p:cNvSpPr txBox="1"/>
          <p:nvPr/>
        </p:nvSpPr>
        <p:spPr>
          <a:xfrm>
            <a:off x="6629400" y="1371600"/>
            <a:ext cx="1965960" cy="658368"/>
          </a:xfrm>
          <a:prstGeom prst="rect">
            <a:avLst/>
          </a:prstGeom>
          <a:noFill/>
          <a:ln/>
        </p:spPr>
        <p:txBody>
          <a:bodyPr wrap="square" lIns="0" tIns="0" rIns="0" bIns="0" rtlCol="0" anchor="ctr"/>
          <a:lstStyle/>
          <a:p>
            <a:pPr algn="ctr" indent="0" marL="0">
              <a:buNone/>
            </a:pPr>
            <a:r>
              <a:rPr lang="en-US" sz="1300" b="1" dirty="0">
                <a:solidFill>
                  <a:srgbClr val="1F9D6B"/>
                </a:solidFill>
                <a:latin typeface="Arial" pitchFamily="34" charset="0"/>
                <a:ea typeface="Arial" pitchFamily="34" charset="-122"/>
                <a:cs typeface="Arial" pitchFamily="34" charset="-120"/>
              </a:rPr>
              <a:t>AVAILABLE → BOOKED</a:t>
            </a:r>
            <a:endParaRPr lang="en-US" sz="1300" dirty="0"/>
          </a:p>
        </p:txBody>
      </p:sp>
      <p:sp>
        <p:nvSpPr>
          <p:cNvPr id="14" name="Shape 11"/>
          <p:cNvSpPr/>
          <p:nvPr/>
        </p:nvSpPr>
        <p:spPr>
          <a:xfrm>
            <a:off x="6537960" y="2130552"/>
            <a:ext cx="2148840" cy="658368"/>
          </a:xfrm>
          <a:prstGeom prst="roundRect">
            <a:avLst>
              <a:gd name="adj" fmla="val 16667"/>
            </a:avLst>
          </a:prstGeom>
          <a:solidFill>
            <a:srgbClr val="FDECE7"/>
          </a:solidFill>
          <a:ln w="12700">
            <a:solidFill>
              <a:srgbClr val="FDECE7"/>
            </a:solidFill>
            <a:prstDash val="solid"/>
          </a:ln>
        </p:spPr>
      </p:sp>
      <p:sp>
        <p:nvSpPr>
          <p:cNvPr id="15" name="Text 12"/>
          <p:cNvSpPr txBox="1"/>
          <p:nvPr/>
        </p:nvSpPr>
        <p:spPr>
          <a:xfrm>
            <a:off x="6629400" y="2130552"/>
            <a:ext cx="1965960" cy="658368"/>
          </a:xfrm>
          <a:prstGeom prst="rect">
            <a:avLst/>
          </a:prstGeom>
          <a:noFill/>
          <a:ln/>
        </p:spPr>
        <p:txBody>
          <a:bodyPr wrap="square" lIns="0" tIns="0" rIns="0" bIns="0" rtlCol="0" anchor="ctr"/>
          <a:lstStyle/>
          <a:p>
            <a:pPr algn="ctr" indent="0" marL="0">
              <a:buNone/>
            </a:pPr>
            <a:r>
              <a:rPr lang="en-US" sz="1300" b="1" dirty="0">
                <a:solidFill>
                  <a:srgbClr val="E4572E"/>
                </a:solidFill>
                <a:latin typeface="Arial" pitchFamily="34" charset="0"/>
                <a:ea typeface="Arial" pitchFamily="34" charset="-122"/>
                <a:cs typeface="Arial" pitchFamily="34" charset="-120"/>
              </a:rPr>
              <a:t>No match → 400 error</a:t>
            </a:r>
            <a:endParaRPr lang="en-US" sz="1300" dirty="0"/>
          </a:p>
        </p:txBody>
      </p:sp>
      <p:sp>
        <p:nvSpPr>
          <p:cNvPr id="16" name="Shape 13"/>
          <p:cNvSpPr/>
          <p:nvPr/>
        </p:nvSpPr>
        <p:spPr>
          <a:xfrm>
            <a:off x="457200" y="3108960"/>
            <a:ext cx="2651760" cy="1508760"/>
          </a:xfrm>
          <a:prstGeom prst="roundRect">
            <a:avLst>
              <a:gd name="adj" fmla="val 727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7" name="Shape 14"/>
          <p:cNvSpPr/>
          <p:nvPr/>
        </p:nvSpPr>
        <p:spPr>
          <a:xfrm>
            <a:off x="731520" y="3200400"/>
            <a:ext cx="502920" cy="502920"/>
          </a:xfrm>
          <a:prstGeom prst="ellipse">
            <a:avLst/>
          </a:prstGeom>
          <a:solidFill>
            <a:srgbClr val="0E7C86"/>
          </a:solidFill>
          <a:ln w="12700">
            <a:solidFill>
              <a:srgbClr val="0E7C86"/>
            </a:solidFill>
            <a:prstDash val="solid"/>
          </a:ln>
        </p:spPr>
      </p:sp>
      <p:pic>
        <p:nvPicPr>
          <p:cNvPr id="18" name="Image 1" descr="preencoded.png">    </p:cNvPr>
          <p:cNvPicPr>
            <a:picLocks noChangeAspect="1"/>
          </p:cNvPicPr>
          <p:nvPr/>
        </p:nvPicPr>
        <p:blipFill>
          <a:blip r:embed="rId2"/>
          <a:stretch>
            <a:fillRect/>
          </a:stretch>
        </p:blipFill>
        <p:spPr>
          <a:xfrm>
            <a:off x="857250" y="3326130"/>
            <a:ext cx="251460" cy="251460"/>
          </a:xfrm>
          <a:prstGeom prst="rect">
            <a:avLst/>
          </a:prstGeom>
        </p:spPr>
      </p:pic>
      <p:sp>
        <p:nvSpPr>
          <p:cNvPr id="19" name="Text 15"/>
          <p:cNvSpPr txBox="1"/>
          <p:nvPr/>
        </p:nvSpPr>
        <p:spPr>
          <a:xfrm>
            <a:off x="594360" y="3749040"/>
            <a:ext cx="2377440" cy="822960"/>
          </a:xfrm>
          <a:prstGeom prst="rect">
            <a:avLst/>
          </a:prstGeom>
          <a:noFill/>
          <a:ln/>
        </p:spPr>
        <p:txBody>
          <a:bodyPr wrap="square" lIns="0" tIns="0" rIns="0" bIns="0" rtlCol="0" anchor="t"/>
          <a:lstStyle/>
          <a:p>
            <a:pPr algn="l" indent="0" marL="0">
              <a:buNone/>
            </a:pPr>
            <a:r>
              <a:rPr lang="en-US" sz="1300" dirty="0">
                <a:solidFill>
                  <a:srgbClr val="12313F"/>
                </a:solidFill>
                <a:latin typeface="Arial" pitchFamily="34" charset="0"/>
                <a:ea typeface="Arial" pitchFamily="34" charset="-122"/>
                <a:cs typeface="Arial" pitchFamily="34" charset="-120"/>
              </a:rPr>
              <a:t>Lives in appointmentController.js, inside the bookSlot function.</a:t>
            </a:r>
            <a:endParaRPr lang="en-US" sz="1300" dirty="0"/>
          </a:p>
        </p:txBody>
      </p:sp>
      <p:sp>
        <p:nvSpPr>
          <p:cNvPr id="20" name="Shape 16"/>
          <p:cNvSpPr/>
          <p:nvPr/>
        </p:nvSpPr>
        <p:spPr>
          <a:xfrm>
            <a:off x="3246120" y="3108960"/>
            <a:ext cx="2651760" cy="1508760"/>
          </a:xfrm>
          <a:prstGeom prst="roundRect">
            <a:avLst>
              <a:gd name="adj" fmla="val 727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1" name="Shape 17"/>
          <p:cNvSpPr/>
          <p:nvPr/>
        </p:nvSpPr>
        <p:spPr>
          <a:xfrm>
            <a:off x="3520440" y="3200400"/>
            <a:ext cx="502920" cy="502920"/>
          </a:xfrm>
          <a:prstGeom prst="ellipse">
            <a:avLst/>
          </a:prstGeom>
          <a:solidFill>
            <a:srgbClr val="0E7C86"/>
          </a:solidFill>
          <a:ln w="12700">
            <a:solidFill>
              <a:srgbClr val="0E7C86"/>
            </a:solidFill>
            <a:prstDash val="solid"/>
          </a:ln>
        </p:spPr>
      </p:sp>
      <p:pic>
        <p:nvPicPr>
          <p:cNvPr id="22" name="Image 2" descr="preencoded.png">    </p:cNvPr>
          <p:cNvPicPr>
            <a:picLocks noChangeAspect="1"/>
          </p:cNvPicPr>
          <p:nvPr/>
        </p:nvPicPr>
        <p:blipFill>
          <a:blip r:embed="rId3"/>
          <a:stretch>
            <a:fillRect/>
          </a:stretch>
        </p:blipFill>
        <p:spPr>
          <a:xfrm>
            <a:off x="3646170" y="3326130"/>
            <a:ext cx="251460" cy="251460"/>
          </a:xfrm>
          <a:prstGeom prst="rect">
            <a:avLst/>
          </a:prstGeom>
        </p:spPr>
      </p:pic>
      <p:sp>
        <p:nvSpPr>
          <p:cNvPr id="23" name="Text 18"/>
          <p:cNvSpPr txBox="1"/>
          <p:nvPr/>
        </p:nvSpPr>
        <p:spPr>
          <a:xfrm>
            <a:off x="3383280" y="3749040"/>
            <a:ext cx="2377440" cy="274320"/>
          </a:xfrm>
          <a:prstGeom prst="rect">
            <a:avLst/>
          </a:prstGeom>
          <a:noFill/>
          <a:ln/>
        </p:spPr>
        <p:txBody>
          <a:bodyPr wrap="square" lIns="0" tIns="0" rIns="0" bIns="0" rtlCol="0" anchor="t"/>
          <a:lstStyle/>
          <a:p>
            <a:pPr algn="l" indent="0" marL="0">
              <a:buNone/>
            </a:pPr>
            <a:r>
              <a:rPr lang="en-US" sz="1300" dirty="0">
                <a:solidFill>
                  <a:srgbClr val="12313F"/>
                </a:solidFill>
                <a:latin typeface="Arial" pitchFamily="34" charset="0"/>
                <a:ea typeface="Arial" pitchFamily="34" charset="-122"/>
                <a:cs typeface="Arial" pitchFamily="34" charset="-120"/>
              </a:rPr>
              <a:t>Update runs only if:</a:t>
            </a:r>
            <a:endParaRPr lang="en-US" sz="1300" dirty="0"/>
          </a:p>
        </p:txBody>
      </p:sp>
      <p:sp>
        <p:nvSpPr>
          <p:cNvPr id="24" name="Text 19"/>
          <p:cNvSpPr txBox="1"/>
          <p:nvPr/>
        </p:nvSpPr>
        <p:spPr>
          <a:xfrm>
            <a:off x="3383280" y="4069080"/>
            <a:ext cx="2377440" cy="502920"/>
          </a:xfrm>
          <a:prstGeom prst="rect">
            <a:avLst/>
          </a:prstGeom>
          <a:noFill/>
          <a:ln/>
        </p:spPr>
        <p:txBody>
          <a:bodyPr wrap="square" lIns="0" tIns="0" rIns="0" bIns="0" rtlCol="0" anchor="t"/>
          <a:lstStyle/>
          <a:p>
            <a:pPr algn="l" indent="0" marL="0">
              <a:buNone/>
            </a:pPr>
            <a:r>
              <a:rPr lang="en-US" sz="1150" b="1" dirty="0">
                <a:solidFill>
                  <a:srgbClr val="12313F"/>
                </a:solidFill>
                <a:latin typeface="Courier New" pitchFamily="34" charset="0"/>
                <a:ea typeface="Courier New" pitchFamily="34" charset="-122"/>
                <a:cs typeface="Courier New" pitchFamily="34" charset="-120"/>
              </a:rPr>
              <a:t>_id: appointmentId</a:t>
            </a:r>
            <a:endParaRPr lang="en-US" sz="1150" dirty="0"/>
          </a:p>
          <a:p>
            <a:pPr algn="l" indent="0" marL="0">
              <a:buNone/>
            </a:pPr>
            <a:r>
              <a:rPr lang="en-US" sz="1150" b="1" dirty="0">
                <a:solidFill>
                  <a:srgbClr val="12313F"/>
                </a:solidFill>
                <a:latin typeface="Courier New" pitchFamily="34" charset="0"/>
                <a:ea typeface="Courier New" pitchFamily="34" charset="-122"/>
                <a:cs typeface="Courier New" pitchFamily="34" charset="-120"/>
              </a:rPr>
              <a:t>status: 'AVAILABLE'</a:t>
            </a:r>
            <a:endParaRPr lang="en-US" sz="1150" dirty="0"/>
          </a:p>
        </p:txBody>
      </p:sp>
      <p:sp>
        <p:nvSpPr>
          <p:cNvPr id="25" name="Shape 20"/>
          <p:cNvSpPr/>
          <p:nvPr/>
        </p:nvSpPr>
        <p:spPr>
          <a:xfrm>
            <a:off x="6035040" y="3108960"/>
            <a:ext cx="2651760" cy="1508760"/>
          </a:xfrm>
          <a:prstGeom prst="roundRect">
            <a:avLst>
              <a:gd name="adj" fmla="val 727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6" name="Shape 21"/>
          <p:cNvSpPr/>
          <p:nvPr/>
        </p:nvSpPr>
        <p:spPr>
          <a:xfrm>
            <a:off x="6309360" y="3200400"/>
            <a:ext cx="502920" cy="502920"/>
          </a:xfrm>
          <a:prstGeom prst="ellipse">
            <a:avLst/>
          </a:prstGeom>
          <a:solidFill>
            <a:srgbClr val="E4572E"/>
          </a:solidFill>
          <a:ln w="12700">
            <a:solidFill>
              <a:srgbClr val="E4572E"/>
            </a:solidFill>
            <a:prstDash val="solid"/>
          </a:ln>
        </p:spPr>
      </p:sp>
      <p:pic>
        <p:nvPicPr>
          <p:cNvPr id="27" name="Image 3" descr="preencoded.png">    </p:cNvPr>
          <p:cNvPicPr>
            <a:picLocks noChangeAspect="1"/>
          </p:cNvPicPr>
          <p:nvPr/>
        </p:nvPicPr>
        <p:blipFill>
          <a:blip r:embed="rId4"/>
          <a:stretch>
            <a:fillRect/>
          </a:stretch>
        </p:blipFill>
        <p:spPr>
          <a:xfrm>
            <a:off x="6435090" y="3326130"/>
            <a:ext cx="251460" cy="251460"/>
          </a:xfrm>
          <a:prstGeom prst="rect">
            <a:avLst/>
          </a:prstGeom>
        </p:spPr>
      </p:pic>
      <p:sp>
        <p:nvSpPr>
          <p:cNvPr id="28" name="Text 22"/>
          <p:cNvSpPr txBox="1"/>
          <p:nvPr/>
        </p:nvSpPr>
        <p:spPr>
          <a:xfrm>
            <a:off x="6172200" y="3749040"/>
            <a:ext cx="2377440" cy="822960"/>
          </a:xfrm>
          <a:prstGeom prst="rect">
            <a:avLst/>
          </a:prstGeom>
          <a:noFill/>
          <a:ln/>
        </p:spPr>
        <p:txBody>
          <a:bodyPr wrap="square" lIns="0" tIns="0" rIns="0" bIns="0" rtlCol="0" anchor="t"/>
          <a:lstStyle/>
          <a:p>
            <a:pPr algn="l" indent="0" marL="0">
              <a:buNone/>
            </a:pPr>
            <a:r>
              <a:rPr lang="en-US" sz="1300" dirty="0">
                <a:solidFill>
                  <a:srgbClr val="12313F"/>
                </a:solidFill>
                <a:latin typeface="Arial" pitchFamily="34" charset="0"/>
                <a:ea typeface="Arial" pitchFamily="34" charset="-122"/>
                <a:cs typeface="Arial" pitchFamily="34" charset="-120"/>
              </a:rPr>
              <a:t>If no document matches the conditions, the request returns a 400 error.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7F8"/>
        </a:solidFill>
      </p:bgPr>
    </p:bg>
    <p:spTree>
      <p:nvGrpSpPr>
        <p:cNvPr id="1" name=""/>
        <p:cNvGrpSpPr/>
        <p:nvPr/>
      </p:nvGrpSpPr>
      <p:grpSpPr>
        <a:xfrm>
          <a:off x="0" y="0"/>
          <a:ext cx="0" cy="0"/>
          <a:chOff x="0" y="0"/>
          <a:chExt cx="0" cy="0"/>
        </a:xfrm>
      </p:grpSpPr>
      <p:sp>
        <p:nvSpPr>
          <p:cNvPr id="2" name="Text 0"/>
          <p:cNvSpPr txBox="1"/>
          <p:nvPr/>
        </p:nvSpPr>
        <p:spPr>
          <a:xfrm>
            <a:off x="484632" y="365760"/>
            <a:ext cx="566928" cy="566928"/>
          </a:xfrm>
          <a:prstGeom prst="ellipse">
            <a:avLst/>
          </a:prstGeom>
          <a:solidFill>
            <a:srgbClr val="0E7C86"/>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3" name="Text 1"/>
          <p:cNvSpPr txBox="1"/>
          <p:nvPr/>
        </p:nvSpPr>
        <p:spPr>
          <a:xfrm>
            <a:off x="1234440" y="320040"/>
            <a:ext cx="7452360" cy="658368"/>
          </a:xfrm>
          <a:prstGeom prst="rect">
            <a:avLst/>
          </a:prstGeom>
          <a:noFill/>
          <a:ln/>
        </p:spPr>
        <p:txBody>
          <a:bodyPr wrap="square" lIns="0" tIns="0" rIns="0" bIns="0" rtlCol="0" anchor="ctr"/>
          <a:lstStyle/>
          <a:p>
            <a:pPr algn="l" indent="0" marL="0">
              <a:buNone/>
            </a:pPr>
            <a:r>
              <a:rPr lang="en-US" sz="2600" b="1" dirty="0">
                <a:solidFill>
                  <a:srgbClr val="12313F"/>
                </a:solidFill>
                <a:latin typeface="Arial" pitchFamily="34" charset="0"/>
                <a:ea typeface="Arial" pitchFamily="34" charset="-122"/>
                <a:cs typeface="Arial" pitchFamily="34" charset="-120"/>
              </a:rPr>
              <a:t>Concurrency Scenario</a:t>
            </a:r>
            <a:endParaRPr lang="en-US" sz="2600" dirty="0"/>
          </a:p>
        </p:txBody>
      </p:sp>
      <p:sp>
        <p:nvSpPr>
          <p:cNvPr id="4" name="Shape 2"/>
          <p:cNvSpPr/>
          <p:nvPr/>
        </p:nvSpPr>
        <p:spPr>
          <a:xfrm>
            <a:off x="457200" y="1280160"/>
            <a:ext cx="4114800" cy="914400"/>
          </a:xfrm>
          <a:prstGeom prst="roundRect">
            <a:avLst>
              <a:gd name="adj" fmla="val 12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594360" y="1463040"/>
            <a:ext cx="548640" cy="548640"/>
          </a:xfrm>
          <a:prstGeom prst="ellipse">
            <a:avLst/>
          </a:prstGeom>
          <a:solidFill>
            <a:srgbClr val="0E7C86"/>
          </a:solidFill>
          <a:ln w="12700">
            <a:solidFill>
              <a:srgbClr val="0E7C86"/>
            </a:solidFill>
            <a:prstDash val="solid"/>
          </a:ln>
        </p:spPr>
      </p:sp>
      <p:pic>
        <p:nvPicPr>
          <p:cNvPr id="6" name="Image 0" descr="preencoded.png">    </p:cNvPr>
          <p:cNvPicPr>
            <a:picLocks noChangeAspect="1"/>
          </p:cNvPicPr>
          <p:nvPr/>
        </p:nvPicPr>
        <p:blipFill>
          <a:blip r:embed="rId1"/>
          <a:stretch>
            <a:fillRect/>
          </a:stretch>
        </p:blipFill>
        <p:spPr>
          <a:xfrm>
            <a:off x="731520" y="1600200"/>
            <a:ext cx="274320" cy="274320"/>
          </a:xfrm>
          <a:prstGeom prst="rect">
            <a:avLst/>
          </a:prstGeom>
        </p:spPr>
      </p:pic>
      <p:sp>
        <p:nvSpPr>
          <p:cNvPr id="7" name="Text 4"/>
          <p:cNvSpPr txBox="1"/>
          <p:nvPr/>
        </p:nvSpPr>
        <p:spPr>
          <a:xfrm>
            <a:off x="1280160" y="1280160"/>
            <a:ext cx="3108960" cy="914400"/>
          </a:xfrm>
          <a:prstGeom prst="rect">
            <a:avLst/>
          </a:prstGeom>
          <a:noFill/>
          <a:ln/>
        </p:spPr>
        <p:txBody>
          <a:bodyPr wrap="square" lIns="0" tIns="0" rIns="0" bIns="0" rtlCol="0" anchor="ctr"/>
          <a:lstStyle/>
          <a:p>
            <a:pPr algn="l" indent="0" marL="0">
              <a:buNone/>
            </a:pPr>
            <a:r>
              <a:rPr lang="en-US" sz="1400" dirty="0">
                <a:solidFill>
                  <a:srgbClr val="12313F"/>
                </a:solidFill>
                <a:latin typeface="Arial" pitchFamily="34" charset="0"/>
                <a:ea typeface="Arial" pitchFamily="34" charset="-122"/>
                <a:cs typeface="Arial" pitchFamily="34" charset="-120"/>
              </a:rPr>
              <a:t>Two patients try to book the same appointmentId at the same moment.</a:t>
            </a:r>
            <a:endParaRPr lang="en-US" sz="1400" dirty="0"/>
          </a:p>
        </p:txBody>
      </p:sp>
      <p:sp>
        <p:nvSpPr>
          <p:cNvPr id="8" name="Shape 5"/>
          <p:cNvSpPr/>
          <p:nvPr/>
        </p:nvSpPr>
        <p:spPr>
          <a:xfrm>
            <a:off x="457200" y="2377440"/>
            <a:ext cx="4114800" cy="914400"/>
          </a:xfrm>
          <a:prstGeom prst="roundRect">
            <a:avLst>
              <a:gd name="adj" fmla="val 12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9" name="Shape 6"/>
          <p:cNvSpPr/>
          <p:nvPr/>
        </p:nvSpPr>
        <p:spPr>
          <a:xfrm>
            <a:off x="594360" y="2560320"/>
            <a:ext cx="548640" cy="548640"/>
          </a:xfrm>
          <a:prstGeom prst="ellipse">
            <a:avLst/>
          </a:prstGeom>
          <a:solidFill>
            <a:srgbClr val="0E7C86"/>
          </a:solidFill>
          <a:ln w="12700">
            <a:solidFill>
              <a:srgbClr val="0E7C86"/>
            </a:solidFill>
            <a:prstDash val="solid"/>
          </a:ln>
        </p:spPr>
      </p:sp>
      <p:pic>
        <p:nvPicPr>
          <p:cNvPr id="10" name="Image 1" descr="preencoded.png">    </p:cNvPr>
          <p:cNvPicPr>
            <a:picLocks noChangeAspect="1"/>
          </p:cNvPicPr>
          <p:nvPr/>
        </p:nvPicPr>
        <p:blipFill>
          <a:blip r:embed="rId2"/>
          <a:stretch>
            <a:fillRect/>
          </a:stretch>
        </p:blipFill>
        <p:spPr>
          <a:xfrm>
            <a:off x="731520" y="2697480"/>
            <a:ext cx="274320" cy="274320"/>
          </a:xfrm>
          <a:prstGeom prst="rect">
            <a:avLst/>
          </a:prstGeom>
        </p:spPr>
      </p:pic>
      <p:sp>
        <p:nvSpPr>
          <p:cNvPr id="11" name="Text 7"/>
          <p:cNvSpPr txBox="1"/>
          <p:nvPr/>
        </p:nvSpPr>
        <p:spPr>
          <a:xfrm>
            <a:off x="1280160" y="2377440"/>
            <a:ext cx="3108960" cy="914400"/>
          </a:xfrm>
          <a:prstGeom prst="rect">
            <a:avLst/>
          </a:prstGeom>
          <a:noFill/>
          <a:ln/>
        </p:spPr>
        <p:txBody>
          <a:bodyPr wrap="square" lIns="0" tIns="0" rIns="0" bIns="0" rtlCol="0" anchor="ctr"/>
          <a:lstStyle/>
          <a:p>
            <a:pPr algn="l" indent="0" marL="0">
              <a:buNone/>
            </a:pPr>
            <a:r>
              <a:rPr lang="en-US" sz="1400" dirty="0">
                <a:solidFill>
                  <a:srgbClr val="12313F"/>
                </a:solidFill>
                <a:latin typeface="Arial" pitchFamily="34" charset="0"/>
                <a:ea typeface="Arial" pitchFamily="34" charset="-122"/>
                <a:cs typeface="Arial" pitchFamily="34" charset="-120"/>
              </a:rPr>
              <a:t>An atomic update on a single document decides who gets there first.</a:t>
            </a:r>
            <a:endParaRPr lang="en-US" sz="1400" dirty="0"/>
          </a:p>
        </p:txBody>
      </p:sp>
      <p:sp>
        <p:nvSpPr>
          <p:cNvPr id="12" name="Shape 8"/>
          <p:cNvSpPr/>
          <p:nvPr/>
        </p:nvSpPr>
        <p:spPr>
          <a:xfrm>
            <a:off x="457200" y="3474720"/>
            <a:ext cx="4114800" cy="914400"/>
          </a:xfrm>
          <a:prstGeom prst="roundRect">
            <a:avLst>
              <a:gd name="adj" fmla="val 12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Shape 9"/>
          <p:cNvSpPr/>
          <p:nvPr/>
        </p:nvSpPr>
        <p:spPr>
          <a:xfrm>
            <a:off x="594360" y="3657600"/>
            <a:ext cx="548640" cy="548640"/>
          </a:xfrm>
          <a:prstGeom prst="ellipse">
            <a:avLst/>
          </a:prstGeom>
          <a:solidFill>
            <a:srgbClr val="0E7C86"/>
          </a:solidFill>
          <a:ln w="12700">
            <a:solidFill>
              <a:srgbClr val="0E7C86"/>
            </a:solidFill>
            <a:prstDash val="solid"/>
          </a:ln>
        </p:spPr>
      </p:sp>
      <p:pic>
        <p:nvPicPr>
          <p:cNvPr id="14" name="Image 2" descr="preencoded.png">    </p:cNvPr>
          <p:cNvPicPr>
            <a:picLocks noChangeAspect="1"/>
          </p:cNvPicPr>
          <p:nvPr/>
        </p:nvPicPr>
        <p:blipFill>
          <a:blip r:embed="rId3"/>
          <a:stretch>
            <a:fillRect/>
          </a:stretch>
        </p:blipFill>
        <p:spPr>
          <a:xfrm>
            <a:off x="731520" y="3794760"/>
            <a:ext cx="274320" cy="274320"/>
          </a:xfrm>
          <a:prstGeom prst="rect">
            <a:avLst/>
          </a:prstGeom>
        </p:spPr>
      </p:pic>
      <p:sp>
        <p:nvSpPr>
          <p:cNvPr id="15" name="Text 10"/>
          <p:cNvSpPr txBox="1"/>
          <p:nvPr/>
        </p:nvSpPr>
        <p:spPr>
          <a:xfrm>
            <a:off x="1280160" y="3474720"/>
            <a:ext cx="3108960" cy="914400"/>
          </a:xfrm>
          <a:prstGeom prst="rect">
            <a:avLst/>
          </a:prstGeom>
          <a:noFill/>
          <a:ln/>
        </p:spPr>
        <p:txBody>
          <a:bodyPr wrap="square" lIns="0" tIns="0" rIns="0" bIns="0" rtlCol="0" anchor="ctr"/>
          <a:lstStyle/>
          <a:p>
            <a:pPr algn="l" indent="0" marL="0">
              <a:buNone/>
            </a:pPr>
            <a:r>
              <a:rPr lang="en-US" sz="1400" dirty="0">
                <a:solidFill>
                  <a:srgbClr val="12313F"/>
                </a:solidFill>
                <a:latin typeface="Arial" pitchFamily="34" charset="0"/>
                <a:ea typeface="Arial" pitchFamily="34" charset="-122"/>
                <a:cs typeface="Arial" pitchFamily="34" charset="-120"/>
              </a:rPr>
              <a:t>The first request to arrive succeeds; the second finds the slot no longer available and is rejected.</a:t>
            </a:r>
            <a:endParaRPr lang="en-US" sz="1400" dirty="0"/>
          </a:p>
        </p:txBody>
      </p:sp>
      <p:sp>
        <p:nvSpPr>
          <p:cNvPr id="16" name="Shape 11"/>
          <p:cNvSpPr/>
          <p:nvPr/>
        </p:nvSpPr>
        <p:spPr>
          <a:xfrm>
            <a:off x="4846320" y="1280160"/>
            <a:ext cx="3840480" cy="3291840"/>
          </a:xfrm>
          <a:prstGeom prst="roundRect">
            <a:avLst>
              <a:gd name="adj" fmla="val 333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7" name="Shape 12"/>
          <p:cNvSpPr/>
          <p:nvPr/>
        </p:nvSpPr>
        <p:spPr>
          <a:xfrm>
            <a:off x="5074920" y="1463040"/>
            <a:ext cx="1554480" cy="548640"/>
          </a:xfrm>
          <a:prstGeom prst="roundRect">
            <a:avLst>
              <a:gd name="adj" fmla="val 20000"/>
            </a:avLst>
          </a:prstGeom>
          <a:solidFill>
            <a:srgbClr val="F2F7F8"/>
          </a:solidFill>
          <a:ln w="12700">
            <a:solidFill>
              <a:srgbClr val="F2F7F8"/>
            </a:solidFill>
            <a:prstDash val="solid"/>
          </a:ln>
        </p:spPr>
      </p:sp>
      <p:sp>
        <p:nvSpPr>
          <p:cNvPr id="18" name="Text 13"/>
          <p:cNvSpPr txBox="1"/>
          <p:nvPr/>
        </p:nvSpPr>
        <p:spPr>
          <a:xfrm>
            <a:off x="5074920" y="1463040"/>
            <a:ext cx="1554480" cy="548640"/>
          </a:xfrm>
          <a:prstGeom prst="rect">
            <a:avLst/>
          </a:prstGeom>
          <a:noFill/>
          <a:ln/>
        </p:spPr>
        <p:txBody>
          <a:bodyPr wrap="square" lIns="0" tIns="0" rIns="0" bIns="0" rtlCol="0" anchor="ctr"/>
          <a:lstStyle/>
          <a:p>
            <a:pPr algn="ctr" indent="0" marL="0">
              <a:buNone/>
            </a:pPr>
            <a:r>
              <a:rPr lang="en-US" sz="1400" b="1" dirty="0">
                <a:solidFill>
                  <a:srgbClr val="12313F"/>
                </a:solidFill>
                <a:latin typeface="Arial" pitchFamily="34" charset="0"/>
                <a:ea typeface="Arial" pitchFamily="34" charset="-122"/>
                <a:cs typeface="Arial" pitchFamily="34" charset="-120"/>
              </a:rPr>
              <a:t>Request 1</a:t>
            </a:r>
            <a:endParaRPr lang="en-US" sz="1400" dirty="0"/>
          </a:p>
        </p:txBody>
      </p:sp>
      <p:sp>
        <p:nvSpPr>
          <p:cNvPr id="19" name="Shape 14"/>
          <p:cNvSpPr/>
          <p:nvPr/>
        </p:nvSpPr>
        <p:spPr>
          <a:xfrm>
            <a:off x="6903720" y="1463040"/>
            <a:ext cx="1554480" cy="548640"/>
          </a:xfrm>
          <a:prstGeom prst="roundRect">
            <a:avLst>
              <a:gd name="adj" fmla="val 20000"/>
            </a:avLst>
          </a:prstGeom>
          <a:solidFill>
            <a:srgbClr val="F2F7F8"/>
          </a:solidFill>
          <a:ln w="12700">
            <a:solidFill>
              <a:srgbClr val="F2F7F8"/>
            </a:solidFill>
            <a:prstDash val="solid"/>
          </a:ln>
        </p:spPr>
      </p:sp>
      <p:sp>
        <p:nvSpPr>
          <p:cNvPr id="20" name="Text 15"/>
          <p:cNvSpPr txBox="1"/>
          <p:nvPr/>
        </p:nvSpPr>
        <p:spPr>
          <a:xfrm>
            <a:off x="6903720" y="1463040"/>
            <a:ext cx="1554480" cy="548640"/>
          </a:xfrm>
          <a:prstGeom prst="rect">
            <a:avLst/>
          </a:prstGeom>
          <a:noFill/>
          <a:ln/>
        </p:spPr>
        <p:txBody>
          <a:bodyPr wrap="square" lIns="0" tIns="0" rIns="0" bIns="0" rtlCol="0" anchor="ctr"/>
          <a:lstStyle/>
          <a:p>
            <a:pPr algn="ctr" indent="0" marL="0">
              <a:buNone/>
            </a:pPr>
            <a:r>
              <a:rPr lang="en-US" sz="1400" b="1" dirty="0">
                <a:solidFill>
                  <a:srgbClr val="12313F"/>
                </a:solidFill>
                <a:latin typeface="Arial" pitchFamily="34" charset="0"/>
                <a:ea typeface="Arial" pitchFamily="34" charset="-122"/>
                <a:cs typeface="Arial" pitchFamily="34" charset="-120"/>
              </a:rPr>
              <a:t>Request 2</a:t>
            </a:r>
            <a:endParaRPr lang="en-US" sz="1400" dirty="0"/>
          </a:p>
        </p:txBody>
      </p:sp>
      <p:sp>
        <p:nvSpPr>
          <p:cNvPr id="21" name="Shape 16"/>
          <p:cNvSpPr/>
          <p:nvPr/>
        </p:nvSpPr>
        <p:spPr>
          <a:xfrm>
            <a:off x="5852160" y="2057400"/>
            <a:ext cx="0" cy="594360"/>
          </a:xfrm>
          <a:prstGeom prst="line">
            <a:avLst/>
          </a:prstGeom>
          <a:noFill/>
          <a:ln w="31750">
            <a:solidFill>
              <a:srgbClr val="0E7C86"/>
            </a:solidFill>
            <a:prstDash val="solid"/>
            <a:tailEnd type="triangle"/>
          </a:ln>
        </p:spPr>
      </p:sp>
      <p:sp>
        <p:nvSpPr>
          <p:cNvPr id="22" name="Shape 17"/>
          <p:cNvSpPr/>
          <p:nvPr/>
        </p:nvSpPr>
        <p:spPr>
          <a:xfrm>
            <a:off x="7680960" y="2057400"/>
            <a:ext cx="0" cy="594360"/>
          </a:xfrm>
          <a:prstGeom prst="line">
            <a:avLst/>
          </a:prstGeom>
          <a:noFill/>
          <a:ln w="31750">
            <a:solidFill>
              <a:srgbClr val="0E7C86"/>
            </a:solidFill>
            <a:prstDash val="solid"/>
            <a:tailEnd type="triangle"/>
          </a:ln>
        </p:spPr>
      </p:sp>
      <p:sp>
        <p:nvSpPr>
          <p:cNvPr id="23" name="Shape 18"/>
          <p:cNvSpPr/>
          <p:nvPr/>
        </p:nvSpPr>
        <p:spPr>
          <a:xfrm>
            <a:off x="5074920" y="2697480"/>
            <a:ext cx="3383280" cy="640080"/>
          </a:xfrm>
          <a:prstGeom prst="roundRect">
            <a:avLst>
              <a:gd name="adj" fmla="val 17143"/>
            </a:avLst>
          </a:prstGeom>
          <a:solidFill>
            <a:srgbClr val="0B2A3A"/>
          </a:solidFill>
          <a:ln w="12700">
            <a:solidFill>
              <a:srgbClr val="0B2A3A"/>
            </a:solidFill>
            <a:prstDash val="solid"/>
          </a:ln>
        </p:spPr>
      </p:sp>
      <p:sp>
        <p:nvSpPr>
          <p:cNvPr id="24" name="Text 19"/>
          <p:cNvSpPr txBox="1"/>
          <p:nvPr/>
        </p:nvSpPr>
        <p:spPr>
          <a:xfrm>
            <a:off x="5074920" y="2697480"/>
            <a:ext cx="33832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Atomic Update • Single document</a:t>
            </a:r>
            <a:endParaRPr lang="en-US" sz="1400" dirty="0"/>
          </a:p>
        </p:txBody>
      </p:sp>
      <p:sp>
        <p:nvSpPr>
          <p:cNvPr id="25" name="Shape 20"/>
          <p:cNvSpPr/>
          <p:nvPr/>
        </p:nvSpPr>
        <p:spPr>
          <a:xfrm>
            <a:off x="5852160" y="3383280"/>
            <a:ext cx="0" cy="365760"/>
          </a:xfrm>
          <a:prstGeom prst="line">
            <a:avLst/>
          </a:prstGeom>
          <a:noFill/>
          <a:ln w="31750">
            <a:solidFill>
              <a:srgbClr val="1F9D6B"/>
            </a:solidFill>
            <a:prstDash val="solid"/>
            <a:tailEnd type="triangle"/>
          </a:ln>
        </p:spPr>
      </p:sp>
      <p:sp>
        <p:nvSpPr>
          <p:cNvPr id="26" name="Shape 21"/>
          <p:cNvSpPr/>
          <p:nvPr/>
        </p:nvSpPr>
        <p:spPr>
          <a:xfrm>
            <a:off x="7680960" y="3383280"/>
            <a:ext cx="0" cy="365760"/>
          </a:xfrm>
          <a:prstGeom prst="line">
            <a:avLst/>
          </a:prstGeom>
          <a:noFill/>
          <a:ln w="31750">
            <a:solidFill>
              <a:srgbClr val="E4572E"/>
            </a:solidFill>
            <a:prstDash val="solid"/>
            <a:tailEnd type="triangle"/>
          </a:ln>
        </p:spPr>
      </p:sp>
      <p:sp>
        <p:nvSpPr>
          <p:cNvPr id="27" name="Shape 22"/>
          <p:cNvSpPr/>
          <p:nvPr/>
        </p:nvSpPr>
        <p:spPr>
          <a:xfrm>
            <a:off x="5074920" y="3794760"/>
            <a:ext cx="1554480" cy="548640"/>
          </a:xfrm>
          <a:prstGeom prst="roundRect">
            <a:avLst>
              <a:gd name="adj" fmla="val 20000"/>
            </a:avLst>
          </a:prstGeom>
          <a:solidFill>
            <a:srgbClr val="E3F5EC"/>
          </a:solidFill>
          <a:ln w="12700">
            <a:solidFill>
              <a:srgbClr val="E3F5EC"/>
            </a:solidFill>
            <a:prstDash val="solid"/>
          </a:ln>
        </p:spPr>
      </p:sp>
      <p:pic>
        <p:nvPicPr>
          <p:cNvPr id="28" name="Image 3" descr="preencoded.png">    </p:cNvPr>
          <p:cNvPicPr>
            <a:picLocks noChangeAspect="1"/>
          </p:cNvPicPr>
          <p:nvPr/>
        </p:nvPicPr>
        <p:blipFill>
          <a:blip r:embed="rId4"/>
          <a:stretch>
            <a:fillRect/>
          </a:stretch>
        </p:blipFill>
        <p:spPr>
          <a:xfrm>
            <a:off x="6309360" y="3941064"/>
            <a:ext cx="256032" cy="256032"/>
          </a:xfrm>
          <a:prstGeom prst="rect">
            <a:avLst/>
          </a:prstGeom>
        </p:spPr>
      </p:pic>
      <p:sp>
        <p:nvSpPr>
          <p:cNvPr id="29" name="Text 23"/>
          <p:cNvSpPr txBox="1"/>
          <p:nvPr/>
        </p:nvSpPr>
        <p:spPr>
          <a:xfrm>
            <a:off x="5166360" y="3794760"/>
            <a:ext cx="1097280" cy="548640"/>
          </a:xfrm>
          <a:prstGeom prst="rect">
            <a:avLst/>
          </a:prstGeom>
          <a:noFill/>
          <a:ln/>
        </p:spPr>
        <p:txBody>
          <a:bodyPr wrap="square" lIns="0" tIns="0" rIns="0" bIns="0" rtlCol="0" anchor="ctr"/>
          <a:lstStyle/>
          <a:p>
            <a:pPr algn="ctr" indent="0" marL="0">
              <a:buNone/>
            </a:pPr>
            <a:r>
              <a:rPr lang="en-US" sz="1400" b="1" dirty="0">
                <a:solidFill>
                  <a:srgbClr val="1F9D6B"/>
                </a:solidFill>
                <a:latin typeface="Arial" pitchFamily="34" charset="0"/>
                <a:ea typeface="Arial" pitchFamily="34" charset="-122"/>
                <a:cs typeface="Arial" pitchFamily="34" charset="-120"/>
              </a:rPr>
              <a:t>Succeeded</a:t>
            </a:r>
            <a:endParaRPr lang="en-US" sz="1400" dirty="0"/>
          </a:p>
        </p:txBody>
      </p:sp>
      <p:sp>
        <p:nvSpPr>
          <p:cNvPr id="30" name="Shape 24"/>
          <p:cNvSpPr/>
          <p:nvPr/>
        </p:nvSpPr>
        <p:spPr>
          <a:xfrm>
            <a:off x="6903720" y="3794760"/>
            <a:ext cx="1554480" cy="548640"/>
          </a:xfrm>
          <a:prstGeom prst="roundRect">
            <a:avLst>
              <a:gd name="adj" fmla="val 20000"/>
            </a:avLst>
          </a:prstGeom>
          <a:solidFill>
            <a:srgbClr val="FDECE7"/>
          </a:solidFill>
          <a:ln w="12700">
            <a:solidFill>
              <a:srgbClr val="FDECE7"/>
            </a:solidFill>
            <a:prstDash val="solid"/>
          </a:ln>
        </p:spPr>
      </p:sp>
      <p:pic>
        <p:nvPicPr>
          <p:cNvPr id="31" name="Image 4" descr="preencoded.png">    </p:cNvPr>
          <p:cNvPicPr>
            <a:picLocks noChangeAspect="1"/>
          </p:cNvPicPr>
          <p:nvPr/>
        </p:nvPicPr>
        <p:blipFill>
          <a:blip r:embed="rId5"/>
          <a:stretch>
            <a:fillRect/>
          </a:stretch>
        </p:blipFill>
        <p:spPr>
          <a:xfrm>
            <a:off x="8138160" y="3941064"/>
            <a:ext cx="256032" cy="256032"/>
          </a:xfrm>
          <a:prstGeom prst="rect">
            <a:avLst/>
          </a:prstGeom>
        </p:spPr>
      </p:pic>
      <p:sp>
        <p:nvSpPr>
          <p:cNvPr id="32" name="Text 25"/>
          <p:cNvSpPr txBox="1"/>
          <p:nvPr/>
        </p:nvSpPr>
        <p:spPr>
          <a:xfrm>
            <a:off x="6995160" y="3794760"/>
            <a:ext cx="1097280" cy="548640"/>
          </a:xfrm>
          <a:prstGeom prst="rect">
            <a:avLst/>
          </a:prstGeom>
          <a:noFill/>
          <a:ln/>
        </p:spPr>
        <p:txBody>
          <a:bodyPr wrap="square" lIns="0" tIns="0" rIns="0" bIns="0" rtlCol="0" anchor="ctr"/>
          <a:lstStyle/>
          <a:p>
            <a:pPr algn="ctr" indent="0" marL="0">
              <a:buNone/>
            </a:pPr>
            <a:r>
              <a:rPr lang="en-US" sz="1400" b="1" dirty="0">
                <a:solidFill>
                  <a:srgbClr val="E4572E"/>
                </a:solidFill>
                <a:latin typeface="Arial" pitchFamily="34" charset="0"/>
                <a:ea typeface="Arial" pitchFamily="34" charset="-122"/>
                <a:cs typeface="Arial" pitchFamily="34" charset="-120"/>
              </a:rPr>
              <a:t>Rejected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7F8"/>
        </a:solidFill>
      </p:bgPr>
    </p:bg>
    <p:spTree>
      <p:nvGrpSpPr>
        <p:cNvPr id="1" name=""/>
        <p:cNvGrpSpPr/>
        <p:nvPr/>
      </p:nvGrpSpPr>
      <p:grpSpPr>
        <a:xfrm>
          <a:off x="0" y="0"/>
          <a:ext cx="0" cy="0"/>
          <a:chOff x="0" y="0"/>
          <a:chExt cx="0" cy="0"/>
        </a:xfrm>
      </p:grpSpPr>
      <p:sp>
        <p:nvSpPr>
          <p:cNvPr id="2" name="Text 0"/>
          <p:cNvSpPr txBox="1"/>
          <p:nvPr/>
        </p:nvSpPr>
        <p:spPr>
          <a:xfrm>
            <a:off x="484632" y="365760"/>
            <a:ext cx="566928" cy="566928"/>
          </a:xfrm>
          <a:prstGeom prst="ellipse">
            <a:avLst/>
          </a:prstGeom>
          <a:solidFill>
            <a:srgbClr val="0E7C86"/>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3" name="Text 1"/>
          <p:cNvSpPr txBox="1"/>
          <p:nvPr/>
        </p:nvSpPr>
        <p:spPr>
          <a:xfrm>
            <a:off x="1234440" y="320040"/>
            <a:ext cx="7452360" cy="658368"/>
          </a:xfrm>
          <a:prstGeom prst="rect">
            <a:avLst/>
          </a:prstGeom>
          <a:noFill/>
          <a:ln/>
        </p:spPr>
        <p:txBody>
          <a:bodyPr wrap="square" lIns="0" tIns="0" rIns="0" bIns="0" rtlCol="0" anchor="ctr"/>
          <a:lstStyle/>
          <a:p>
            <a:pPr algn="l" indent="0" marL="0">
              <a:buNone/>
            </a:pPr>
            <a:r>
              <a:rPr lang="en-US" sz="2600" b="1" dirty="0">
                <a:solidFill>
                  <a:srgbClr val="12313F"/>
                </a:solidFill>
                <a:latin typeface="Arial" pitchFamily="34" charset="0"/>
                <a:ea typeface="Arial" pitchFamily="34" charset="-122"/>
                <a:cs typeface="Arial" pitchFamily="34" charset="-120"/>
              </a:rPr>
              <a:t>Simulation with testSimulation.js</a:t>
            </a:r>
            <a:endParaRPr lang="en-US" sz="2600" dirty="0"/>
          </a:p>
        </p:txBody>
      </p:sp>
      <p:sp>
        <p:nvSpPr>
          <p:cNvPr id="4" name="Shape 2"/>
          <p:cNvSpPr/>
          <p:nvPr/>
        </p:nvSpPr>
        <p:spPr>
          <a:xfrm>
            <a:off x="457200" y="1280160"/>
            <a:ext cx="265176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731520" y="1371600"/>
            <a:ext cx="502920" cy="502920"/>
          </a:xfrm>
          <a:prstGeom prst="ellipse">
            <a:avLst/>
          </a:prstGeom>
          <a:solidFill>
            <a:srgbClr val="0E7C86"/>
          </a:solidFill>
          <a:ln w="12700">
            <a:solidFill>
              <a:srgbClr val="0E7C86"/>
            </a:solidFill>
            <a:prstDash val="solid"/>
          </a:ln>
        </p:spPr>
      </p:sp>
      <p:pic>
        <p:nvPicPr>
          <p:cNvPr id="6" name="Image 0" descr="preencoded.png">    </p:cNvPr>
          <p:cNvPicPr>
            <a:picLocks noChangeAspect="1"/>
          </p:cNvPicPr>
          <p:nvPr/>
        </p:nvPicPr>
        <p:blipFill>
          <a:blip r:embed="rId1"/>
          <a:stretch>
            <a:fillRect/>
          </a:stretch>
        </p:blipFill>
        <p:spPr>
          <a:xfrm>
            <a:off x="857250" y="1497330"/>
            <a:ext cx="251460" cy="251460"/>
          </a:xfrm>
          <a:prstGeom prst="rect">
            <a:avLst/>
          </a:prstGeom>
        </p:spPr>
      </p:pic>
      <p:sp>
        <p:nvSpPr>
          <p:cNvPr id="7" name="Text 4"/>
          <p:cNvSpPr txBox="1"/>
          <p:nvPr/>
        </p:nvSpPr>
        <p:spPr>
          <a:xfrm>
            <a:off x="594360" y="1920240"/>
            <a:ext cx="2377440" cy="731520"/>
          </a:xfrm>
          <a:prstGeom prst="rect">
            <a:avLst/>
          </a:prstGeom>
          <a:noFill/>
          <a:ln/>
        </p:spPr>
        <p:txBody>
          <a:bodyPr wrap="square" lIns="0" tIns="0" rIns="0" bIns="0" rtlCol="0" anchor="t"/>
          <a:lstStyle/>
          <a:p>
            <a:pPr algn="l" indent="0" marL="0">
              <a:buNone/>
            </a:pPr>
            <a:r>
              <a:rPr lang="en-US" sz="1350" dirty="0">
                <a:solidFill>
                  <a:srgbClr val="12313F"/>
                </a:solidFill>
                <a:latin typeface="Arial" pitchFamily="34" charset="0"/>
                <a:ea typeface="Arial" pitchFamily="34" charset="-122"/>
                <a:cs typeface="Arial" pitchFamily="34" charset="-120"/>
              </a:rPr>
              <a:t>Creates two available slots for the test.</a:t>
            </a:r>
            <a:endParaRPr lang="en-US" sz="1350" dirty="0"/>
          </a:p>
        </p:txBody>
      </p:sp>
      <p:sp>
        <p:nvSpPr>
          <p:cNvPr id="8" name="Shape 5"/>
          <p:cNvSpPr/>
          <p:nvPr/>
        </p:nvSpPr>
        <p:spPr>
          <a:xfrm>
            <a:off x="3246120" y="1280160"/>
            <a:ext cx="265176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9" name="Shape 6"/>
          <p:cNvSpPr/>
          <p:nvPr/>
        </p:nvSpPr>
        <p:spPr>
          <a:xfrm>
            <a:off x="3520440" y="1371600"/>
            <a:ext cx="502920" cy="502920"/>
          </a:xfrm>
          <a:prstGeom prst="ellipse">
            <a:avLst/>
          </a:prstGeom>
          <a:solidFill>
            <a:srgbClr val="0E7C86"/>
          </a:solidFill>
          <a:ln w="12700">
            <a:solidFill>
              <a:srgbClr val="0E7C86"/>
            </a:solidFill>
            <a:prstDash val="solid"/>
          </a:ln>
        </p:spPr>
      </p:sp>
      <p:pic>
        <p:nvPicPr>
          <p:cNvPr id="10" name="Image 1" descr="preencoded.png">    </p:cNvPr>
          <p:cNvPicPr>
            <a:picLocks noChangeAspect="1"/>
          </p:cNvPicPr>
          <p:nvPr/>
        </p:nvPicPr>
        <p:blipFill>
          <a:blip r:embed="rId2"/>
          <a:stretch>
            <a:fillRect/>
          </a:stretch>
        </p:blipFill>
        <p:spPr>
          <a:xfrm>
            <a:off x="3646170" y="1497330"/>
            <a:ext cx="251460" cy="251460"/>
          </a:xfrm>
          <a:prstGeom prst="rect">
            <a:avLst/>
          </a:prstGeom>
        </p:spPr>
      </p:pic>
      <p:sp>
        <p:nvSpPr>
          <p:cNvPr id="11" name="Text 7"/>
          <p:cNvSpPr txBox="1"/>
          <p:nvPr/>
        </p:nvSpPr>
        <p:spPr>
          <a:xfrm>
            <a:off x="3383280" y="1920240"/>
            <a:ext cx="2377440" cy="731520"/>
          </a:xfrm>
          <a:prstGeom prst="rect">
            <a:avLst/>
          </a:prstGeom>
          <a:noFill/>
          <a:ln/>
        </p:spPr>
        <p:txBody>
          <a:bodyPr wrap="square" lIns="0" tIns="0" rIns="0" bIns="0" rtlCol="0" anchor="t"/>
          <a:lstStyle/>
          <a:p>
            <a:pPr algn="l" indent="0" marL="0">
              <a:buNone/>
            </a:pPr>
            <a:r>
              <a:rPr lang="en-US" sz="1350" dirty="0">
                <a:solidFill>
                  <a:srgbClr val="12313F"/>
                </a:solidFill>
                <a:latin typeface="Arial" pitchFamily="34" charset="0"/>
                <a:ea typeface="Arial" pitchFamily="34" charset="-122"/>
                <a:cs typeface="Arial" pitchFamily="34" charset="-120"/>
              </a:rPr>
              <a:t>Uses Promise.all to fire two booking requests at the same moment.</a:t>
            </a:r>
            <a:endParaRPr lang="en-US" sz="1350" dirty="0"/>
          </a:p>
        </p:txBody>
      </p:sp>
      <p:sp>
        <p:nvSpPr>
          <p:cNvPr id="12" name="Shape 8"/>
          <p:cNvSpPr/>
          <p:nvPr/>
        </p:nvSpPr>
        <p:spPr>
          <a:xfrm>
            <a:off x="6035040" y="1280160"/>
            <a:ext cx="265176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Shape 9"/>
          <p:cNvSpPr/>
          <p:nvPr/>
        </p:nvSpPr>
        <p:spPr>
          <a:xfrm>
            <a:off x="6309360" y="1371600"/>
            <a:ext cx="502920" cy="502920"/>
          </a:xfrm>
          <a:prstGeom prst="ellipse">
            <a:avLst/>
          </a:prstGeom>
          <a:solidFill>
            <a:srgbClr val="0E7C86"/>
          </a:solidFill>
          <a:ln w="12700">
            <a:solidFill>
              <a:srgbClr val="0E7C86"/>
            </a:solidFill>
            <a:prstDash val="solid"/>
          </a:ln>
        </p:spPr>
      </p:sp>
      <p:pic>
        <p:nvPicPr>
          <p:cNvPr id="14" name="Image 2" descr="preencoded.png">    </p:cNvPr>
          <p:cNvPicPr>
            <a:picLocks noChangeAspect="1"/>
          </p:cNvPicPr>
          <p:nvPr/>
        </p:nvPicPr>
        <p:blipFill>
          <a:blip r:embed="rId3"/>
          <a:stretch>
            <a:fillRect/>
          </a:stretch>
        </p:blipFill>
        <p:spPr>
          <a:xfrm>
            <a:off x="6435090" y="1497330"/>
            <a:ext cx="251460" cy="251460"/>
          </a:xfrm>
          <a:prstGeom prst="rect">
            <a:avLst/>
          </a:prstGeom>
        </p:spPr>
      </p:pic>
      <p:sp>
        <p:nvSpPr>
          <p:cNvPr id="15" name="Text 10"/>
          <p:cNvSpPr txBox="1"/>
          <p:nvPr/>
        </p:nvSpPr>
        <p:spPr>
          <a:xfrm>
            <a:off x="6172200" y="1920240"/>
            <a:ext cx="2377440" cy="731520"/>
          </a:xfrm>
          <a:prstGeom prst="rect">
            <a:avLst/>
          </a:prstGeom>
          <a:noFill/>
          <a:ln/>
        </p:spPr>
        <p:txBody>
          <a:bodyPr wrap="square" lIns="0" tIns="0" rIns="0" bIns="0" rtlCol="0" anchor="t"/>
          <a:lstStyle/>
          <a:p>
            <a:pPr algn="l" indent="0" marL="0">
              <a:buNone/>
            </a:pPr>
            <a:r>
              <a:rPr lang="en-US" sz="1350" dirty="0">
                <a:solidFill>
                  <a:srgbClr val="12313F"/>
                </a:solidFill>
                <a:latin typeface="Arial" pitchFamily="34" charset="0"/>
                <a:ea typeface="Arial" pitchFamily="34" charset="-122"/>
                <a:cs typeface="Arial" pitchFamily="34" charset="-120"/>
              </a:rPr>
              <a:t>Verifies the responses (one 200, the other 400).</a:t>
            </a:r>
            <a:endParaRPr lang="en-US" sz="1350" dirty="0"/>
          </a:p>
        </p:txBody>
      </p:sp>
      <p:sp>
        <p:nvSpPr>
          <p:cNvPr id="16" name="Text 11"/>
          <p:cNvSpPr txBox="1"/>
          <p:nvPr/>
        </p:nvSpPr>
        <p:spPr>
          <a:xfrm>
            <a:off x="457200" y="2926080"/>
            <a:ext cx="2743200" cy="274320"/>
          </a:xfrm>
          <a:prstGeom prst="rect">
            <a:avLst/>
          </a:prstGeom>
          <a:noFill/>
          <a:ln/>
        </p:spPr>
        <p:txBody>
          <a:bodyPr wrap="square" lIns="0" tIns="0" rIns="0" bIns="0" rtlCol="0" anchor="ctr"/>
          <a:lstStyle/>
          <a:p>
            <a:pPr algn="l" indent="0" marL="0">
              <a:buNone/>
            </a:pPr>
            <a:r>
              <a:rPr lang="en-US" sz="1200" b="1" dirty="0">
                <a:solidFill>
                  <a:srgbClr val="5B7480"/>
                </a:solidFill>
                <a:latin typeface="Arial" pitchFamily="34" charset="0"/>
                <a:ea typeface="Arial" pitchFamily="34" charset="-122"/>
                <a:cs typeface="Arial" pitchFamily="34" charset="-120"/>
              </a:rPr>
              <a:t>Simplified usage</a:t>
            </a:r>
            <a:endParaRPr lang="en-US" sz="1200" dirty="0"/>
          </a:p>
        </p:txBody>
      </p:sp>
      <p:sp>
        <p:nvSpPr>
          <p:cNvPr id="17" name="Shape 12"/>
          <p:cNvSpPr/>
          <p:nvPr/>
        </p:nvSpPr>
        <p:spPr>
          <a:xfrm>
            <a:off x="457200" y="3246120"/>
            <a:ext cx="8229600" cy="1463040"/>
          </a:xfrm>
          <a:prstGeom prst="roundRect">
            <a:avLst>
              <a:gd name="adj" fmla="val 7500"/>
            </a:avLst>
          </a:prstGeom>
          <a:solidFill>
            <a:srgbClr val="0B2A3A"/>
          </a:solidFill>
          <a:ln w="12700">
            <a:solidFill>
              <a:srgbClr val="0B2A3A"/>
            </a:solidFill>
            <a:prstDash val="solid"/>
          </a:ln>
          <a:effectLst>
            <a:outerShdw sx="100000" sy="100000" kx="0" ky="0" algn="bl" rotWithShape="0" blurRad="101600" dist="25400" dir="5400000">
              <a:srgbClr val="000000">
                <a:alpha val="12000"/>
              </a:srgbClr>
            </a:outerShdw>
          </a:effectLst>
        </p:spPr>
      </p:sp>
      <p:sp>
        <p:nvSpPr>
          <p:cNvPr id="18" name="Text 13"/>
          <p:cNvSpPr txBox="1"/>
          <p:nvPr/>
        </p:nvSpPr>
        <p:spPr>
          <a:xfrm>
            <a:off x="731520" y="3291840"/>
            <a:ext cx="7680960" cy="1371600"/>
          </a:xfrm>
          <a:prstGeom prst="rect">
            <a:avLst/>
          </a:prstGeom>
          <a:noFill/>
          <a:ln/>
        </p:spPr>
        <p:txBody>
          <a:bodyPr wrap="square" lIns="0" tIns="0" rIns="0" bIns="0" rtlCol="0" anchor="ctr"/>
          <a:lstStyle/>
          <a:p>
            <a:pPr algn="l" indent="0" marL="0">
              <a:buNone/>
            </a:pPr>
            <a:r>
              <a:rPr lang="en-US" sz="1300" dirty="0">
                <a:solidFill>
                  <a:srgbClr val="E6F1F3"/>
                </a:solidFill>
                <a:latin typeface="Courier New" pitchFamily="34" charset="0"/>
                <a:ea typeface="Courier New" pitchFamily="34" charset="-122"/>
                <a:cs typeface="Courier New" pitchFamily="34" charset="-120"/>
              </a:rPr>
              <a:t>const results = await Promise.all([</a:t>
            </a:r>
            <a:endParaRPr lang="en-US" sz="1300" dirty="0"/>
          </a:p>
          <a:p>
            <a:pPr algn="l" indent="0" marL="0">
              <a:buNone/>
            </a:pPr>
            <a:r>
              <a:rPr lang="en-US" sz="1300" dirty="0">
                <a:solidFill>
                  <a:srgbClr val="E6F1F3"/>
                </a:solidFill>
                <a:latin typeface="Courier New" pitchFamily="34" charset="0"/>
                <a:ea typeface="Courier New" pitchFamily="34" charset="-122"/>
                <a:cs typeface="Courier New" pitchFamily="34" charset="-120"/>
              </a:rPr>
              <a:t>  bookSlot(appointmentId, patientA),</a:t>
            </a:r>
            <a:endParaRPr lang="en-US" sz="1300" dirty="0"/>
          </a:p>
          <a:p>
            <a:pPr algn="l" indent="0" marL="0">
              <a:buNone/>
            </a:pPr>
            <a:r>
              <a:rPr lang="en-US" sz="1300" dirty="0">
                <a:solidFill>
                  <a:srgbClr val="E6F1F3"/>
                </a:solidFill>
                <a:latin typeface="Courier New" pitchFamily="34" charset="0"/>
                <a:ea typeface="Courier New" pitchFamily="34" charset="-122"/>
                <a:cs typeface="Courier New" pitchFamily="34" charset="-120"/>
              </a:rPr>
              <a:t>  bookSlot(appointmentId, patientB),</a:t>
            </a:r>
            <a:endParaRPr lang="en-US" sz="1300" dirty="0"/>
          </a:p>
          <a:p>
            <a:pPr algn="l" indent="0" marL="0">
              <a:buNone/>
            </a:pPr>
            <a:r>
              <a:rPr lang="en-US" sz="1300" dirty="0">
                <a:solidFill>
                  <a:srgbClr val="E6F1F3"/>
                </a:solidFill>
                <a:latin typeface="Courier New" pitchFamily="34" charset="0"/>
                <a:ea typeface="Courier New" pitchFamily="34" charset="-122"/>
                <a:cs typeface="Courier New" pitchFamily="34" charset="-120"/>
              </a:rPr>
              <a:t>]);</a:t>
            </a:r>
            <a:endParaRPr lang="en-US" sz="1300" dirty="0"/>
          </a:p>
          <a:p>
            <a:pPr algn="l" indent="0" marL="0">
              <a:buNone/>
            </a:pPr>
            <a:r>
              <a:rPr lang="en-US" sz="1300" dirty="0">
                <a:solidFill>
                  <a:srgbClr val="E6F1F3"/>
                </a:solidFill>
                <a:latin typeface="Courier New" pitchFamily="34" charset="0"/>
                <a:ea typeface="Courier New" pitchFamily="34" charset="-122"/>
                <a:cs typeface="Courier New" pitchFamily="34" charset="-120"/>
              </a:rPr>
              <a:t>// expect: one 200, one 400</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7F8"/>
        </a:solidFill>
      </p:bgPr>
    </p:bg>
    <p:spTree>
      <p:nvGrpSpPr>
        <p:cNvPr id="1" name=""/>
        <p:cNvGrpSpPr/>
        <p:nvPr/>
      </p:nvGrpSpPr>
      <p:grpSpPr>
        <a:xfrm>
          <a:off x="0" y="0"/>
          <a:ext cx="0" cy="0"/>
          <a:chOff x="0" y="0"/>
          <a:chExt cx="0" cy="0"/>
        </a:xfrm>
      </p:grpSpPr>
      <p:sp>
        <p:nvSpPr>
          <p:cNvPr id="2" name="Text 0"/>
          <p:cNvSpPr txBox="1"/>
          <p:nvPr/>
        </p:nvSpPr>
        <p:spPr>
          <a:xfrm>
            <a:off x="484632" y="365760"/>
            <a:ext cx="566928" cy="566928"/>
          </a:xfrm>
          <a:prstGeom prst="ellipse">
            <a:avLst/>
          </a:prstGeom>
          <a:solidFill>
            <a:srgbClr val="0E7C86"/>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7</a:t>
            </a:r>
            <a:endParaRPr lang="en-US" sz="2000" dirty="0"/>
          </a:p>
        </p:txBody>
      </p:sp>
      <p:sp>
        <p:nvSpPr>
          <p:cNvPr id="3" name="Text 1"/>
          <p:cNvSpPr txBox="1"/>
          <p:nvPr/>
        </p:nvSpPr>
        <p:spPr>
          <a:xfrm>
            <a:off x="1234440" y="320040"/>
            <a:ext cx="7452360" cy="658368"/>
          </a:xfrm>
          <a:prstGeom prst="rect">
            <a:avLst/>
          </a:prstGeom>
          <a:noFill/>
          <a:ln/>
        </p:spPr>
        <p:txBody>
          <a:bodyPr wrap="square" lIns="0" tIns="0" rIns="0" bIns="0" rtlCol="0" anchor="ctr"/>
          <a:lstStyle/>
          <a:p>
            <a:pPr algn="l" indent="0" marL="0">
              <a:buNone/>
            </a:pPr>
            <a:r>
              <a:rPr lang="en-US" sz="2600" b="1" dirty="0">
                <a:solidFill>
                  <a:srgbClr val="12313F"/>
                </a:solidFill>
                <a:latin typeface="Arial" pitchFamily="34" charset="0"/>
                <a:ea typeface="Arial" pitchFamily="34" charset="-122"/>
                <a:cs typeface="Arial" pitchFamily="34" charset="-120"/>
              </a:rPr>
              <a:t>Simulation Run Results</a:t>
            </a:r>
            <a:endParaRPr lang="en-US" sz="2600" dirty="0"/>
          </a:p>
        </p:txBody>
      </p:sp>
      <p:sp>
        <p:nvSpPr>
          <p:cNvPr id="4" name="Shape 2"/>
          <p:cNvSpPr/>
          <p:nvPr/>
        </p:nvSpPr>
        <p:spPr>
          <a:xfrm>
            <a:off x="457200" y="1280160"/>
            <a:ext cx="41148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640080" y="1417320"/>
            <a:ext cx="411480" cy="411480"/>
          </a:xfrm>
          <a:prstGeom prst="rect">
            <a:avLst/>
          </a:prstGeom>
        </p:spPr>
      </p:pic>
      <p:sp>
        <p:nvSpPr>
          <p:cNvPr id="6" name="Text 3"/>
          <p:cNvSpPr txBox="1"/>
          <p:nvPr/>
        </p:nvSpPr>
        <p:spPr>
          <a:xfrm>
            <a:off x="1188720" y="1371600"/>
            <a:ext cx="3200400" cy="502920"/>
          </a:xfrm>
          <a:prstGeom prst="rect">
            <a:avLst/>
          </a:prstGeom>
          <a:noFill/>
          <a:ln/>
        </p:spPr>
        <p:txBody>
          <a:bodyPr wrap="square" lIns="0" tIns="0" rIns="0" bIns="0" rtlCol="0" anchor="ctr"/>
          <a:lstStyle/>
          <a:p>
            <a:pPr algn="l" indent="0" marL="0">
              <a:buNone/>
            </a:pPr>
            <a:r>
              <a:rPr lang="en-US" sz="1500" b="1" dirty="0">
                <a:solidFill>
                  <a:srgbClr val="12313F"/>
                </a:solidFill>
                <a:latin typeface="Arial" pitchFamily="34" charset="0"/>
                <a:ea typeface="Arial" pitchFamily="34" charset="-122"/>
                <a:cs typeface="Arial" pitchFamily="34" charset="-120"/>
              </a:rPr>
              <a:t>First request: succeeded and returned the success message.</a:t>
            </a:r>
            <a:endParaRPr lang="en-US" sz="1500" dirty="0"/>
          </a:p>
        </p:txBody>
      </p:sp>
      <p:sp>
        <p:nvSpPr>
          <p:cNvPr id="7" name="Shape 4"/>
          <p:cNvSpPr/>
          <p:nvPr/>
        </p:nvSpPr>
        <p:spPr>
          <a:xfrm>
            <a:off x="640080" y="2011680"/>
            <a:ext cx="3749040" cy="502920"/>
          </a:xfrm>
          <a:prstGeom prst="roundRect">
            <a:avLst>
              <a:gd name="adj" fmla="val 14545"/>
            </a:avLst>
          </a:prstGeom>
          <a:solidFill>
            <a:srgbClr val="E3F5EC"/>
          </a:solidFill>
          <a:ln w="12700">
            <a:solidFill>
              <a:srgbClr val="E3F5EC"/>
            </a:solidFill>
            <a:prstDash val="solid"/>
          </a:ln>
        </p:spPr>
      </p:sp>
      <p:sp>
        <p:nvSpPr>
          <p:cNvPr id="8" name="Text 5"/>
          <p:cNvSpPr txBox="1"/>
          <p:nvPr/>
        </p:nvSpPr>
        <p:spPr>
          <a:xfrm>
            <a:off x="731520" y="2011680"/>
            <a:ext cx="3566160" cy="502920"/>
          </a:xfrm>
          <a:prstGeom prst="rect">
            <a:avLst/>
          </a:prstGeom>
          <a:noFill/>
          <a:ln/>
        </p:spPr>
        <p:txBody>
          <a:bodyPr wrap="square" lIns="0" tIns="0" rIns="0" bIns="0" rtlCol="0" anchor="ctr"/>
          <a:lstStyle/>
          <a:p>
            <a:pPr algn="l" indent="0" marL="0">
              <a:buNone/>
            </a:pPr>
            <a:r>
              <a:rPr lang="en-US" sz="1150" b="1" dirty="0">
                <a:solidFill>
                  <a:srgbClr val="1F9D6B"/>
                </a:solidFill>
                <a:latin typeface="Courier New" pitchFamily="34" charset="0"/>
                <a:ea typeface="Courier New" pitchFamily="34" charset="-122"/>
                <a:cs typeface="Courier New" pitchFamily="34" charset="-120"/>
              </a:rPr>
              <a:t>Appointment booked successfully!</a:t>
            </a:r>
            <a:endParaRPr lang="en-US" sz="1150" dirty="0"/>
          </a:p>
        </p:txBody>
      </p:sp>
      <p:sp>
        <p:nvSpPr>
          <p:cNvPr id="9" name="Shape 6"/>
          <p:cNvSpPr/>
          <p:nvPr/>
        </p:nvSpPr>
        <p:spPr>
          <a:xfrm>
            <a:off x="457200" y="2880360"/>
            <a:ext cx="4114800"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pic>
        <p:nvPicPr>
          <p:cNvPr id="10" name="Image 1" descr="preencoded.png">    </p:cNvPr>
          <p:cNvPicPr>
            <a:picLocks noChangeAspect="1"/>
          </p:cNvPicPr>
          <p:nvPr/>
        </p:nvPicPr>
        <p:blipFill>
          <a:blip r:embed="rId2"/>
          <a:stretch>
            <a:fillRect/>
          </a:stretch>
        </p:blipFill>
        <p:spPr>
          <a:xfrm>
            <a:off x="640080" y="3017520"/>
            <a:ext cx="411480" cy="411480"/>
          </a:xfrm>
          <a:prstGeom prst="rect">
            <a:avLst/>
          </a:prstGeom>
        </p:spPr>
      </p:pic>
      <p:sp>
        <p:nvSpPr>
          <p:cNvPr id="11" name="Text 7"/>
          <p:cNvSpPr txBox="1"/>
          <p:nvPr/>
        </p:nvSpPr>
        <p:spPr>
          <a:xfrm>
            <a:off x="1188720" y="2926080"/>
            <a:ext cx="3200400" cy="685800"/>
          </a:xfrm>
          <a:prstGeom prst="rect">
            <a:avLst/>
          </a:prstGeom>
          <a:noFill/>
          <a:ln/>
        </p:spPr>
        <p:txBody>
          <a:bodyPr wrap="square" lIns="0" tIns="0" rIns="0" bIns="0" rtlCol="0" anchor="ctr"/>
          <a:lstStyle/>
          <a:p>
            <a:pPr algn="l" indent="0" marL="0">
              <a:buNone/>
            </a:pPr>
            <a:r>
              <a:rPr lang="en-US" sz="1400" b="1" dirty="0">
                <a:solidFill>
                  <a:srgbClr val="12313F"/>
                </a:solidFill>
                <a:latin typeface="Arial" pitchFamily="34" charset="0"/>
                <a:ea typeface="Arial" pitchFamily="34" charset="-122"/>
                <a:cs typeface="Arial" pitchFamily="34" charset="-120"/>
              </a:rPr>
              <a:t>Second request: rejected with the message:</a:t>
            </a:r>
            <a:endParaRPr lang="en-US" sz="1400" dirty="0"/>
          </a:p>
        </p:txBody>
      </p:sp>
      <p:sp>
        <p:nvSpPr>
          <p:cNvPr id="12" name="Shape 8"/>
          <p:cNvSpPr/>
          <p:nvPr/>
        </p:nvSpPr>
        <p:spPr>
          <a:xfrm>
            <a:off x="640080" y="3749040"/>
            <a:ext cx="3749040" cy="685800"/>
          </a:xfrm>
          <a:prstGeom prst="roundRect">
            <a:avLst>
              <a:gd name="adj" fmla="val 10667"/>
            </a:avLst>
          </a:prstGeom>
          <a:solidFill>
            <a:srgbClr val="FDECE7"/>
          </a:solidFill>
          <a:ln w="12700">
            <a:solidFill>
              <a:srgbClr val="FDECE7"/>
            </a:solidFill>
            <a:prstDash val="solid"/>
          </a:ln>
        </p:spPr>
      </p:sp>
      <p:sp>
        <p:nvSpPr>
          <p:cNvPr id="13" name="Text 9"/>
          <p:cNvSpPr txBox="1"/>
          <p:nvPr/>
        </p:nvSpPr>
        <p:spPr>
          <a:xfrm>
            <a:off x="731520" y="3749040"/>
            <a:ext cx="3566160" cy="685800"/>
          </a:xfrm>
          <a:prstGeom prst="rect">
            <a:avLst/>
          </a:prstGeom>
          <a:noFill/>
          <a:ln/>
        </p:spPr>
        <p:txBody>
          <a:bodyPr wrap="square" lIns="0" tIns="0" rIns="0" bIns="0" rtlCol="0" anchor="ctr"/>
          <a:lstStyle/>
          <a:p>
            <a:pPr algn="l" indent="0" marL="0">
              <a:buNone/>
            </a:pPr>
            <a:r>
              <a:rPr lang="en-US" sz="1150" b="1" dirty="0">
                <a:solidFill>
                  <a:srgbClr val="E4572E"/>
                </a:solidFill>
                <a:latin typeface="Courier New" pitchFamily="34" charset="0"/>
                <a:ea typeface="Courier New" pitchFamily="34" charset="-122"/>
                <a:cs typeface="Courier New" pitchFamily="34" charset="-120"/>
              </a:rPr>
              <a:t>This slot is either already booked or does not exist!</a:t>
            </a:r>
            <a:endParaRPr lang="en-US" sz="1150" dirty="0"/>
          </a:p>
        </p:txBody>
      </p:sp>
      <p:sp>
        <p:nvSpPr>
          <p:cNvPr id="14" name="Shape 10"/>
          <p:cNvSpPr/>
          <p:nvPr/>
        </p:nvSpPr>
        <p:spPr>
          <a:xfrm>
            <a:off x="4846320" y="1280160"/>
            <a:ext cx="3840480" cy="3337560"/>
          </a:xfrm>
          <a:prstGeom prst="roundRect">
            <a:avLst>
              <a:gd name="adj" fmla="val 3288"/>
            </a:avLst>
          </a:prstGeom>
          <a:solidFill>
            <a:srgbClr val="0B2A3A"/>
          </a:solidFill>
          <a:ln w="12700">
            <a:solidFill>
              <a:srgbClr val="0B2A3A"/>
            </a:solidFill>
            <a:prstDash val="solid"/>
          </a:ln>
          <a:effectLst>
            <a:outerShdw sx="100000" sy="100000" kx="0" ky="0" algn="bl" rotWithShape="0" blurRad="101600" dist="25400" dir="5400000">
              <a:srgbClr val="000000">
                <a:alpha val="12000"/>
              </a:srgbClr>
            </a:outerShdw>
          </a:effectLst>
        </p:spPr>
      </p:sp>
      <p:sp>
        <p:nvSpPr>
          <p:cNvPr id="15" name="Text 11"/>
          <p:cNvSpPr txBox="1"/>
          <p:nvPr/>
        </p:nvSpPr>
        <p:spPr>
          <a:xfrm>
            <a:off x="5029200" y="1371600"/>
            <a:ext cx="347472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Doctor's Schedule</a:t>
            </a:r>
            <a:endParaRPr lang="en-US" sz="1700" dirty="0"/>
          </a:p>
        </p:txBody>
      </p:sp>
      <p:sp>
        <p:nvSpPr>
          <p:cNvPr id="16" name="Shape 12"/>
          <p:cNvSpPr/>
          <p:nvPr/>
        </p:nvSpPr>
        <p:spPr>
          <a:xfrm>
            <a:off x="4983480" y="1965960"/>
            <a:ext cx="1097280" cy="2377440"/>
          </a:xfrm>
          <a:prstGeom prst="roundRect">
            <a:avLst>
              <a:gd name="adj" fmla="val 10000"/>
            </a:avLst>
          </a:prstGeom>
          <a:solidFill>
            <a:srgbClr val="12394D"/>
          </a:solidFill>
          <a:ln w="12700">
            <a:solidFill>
              <a:srgbClr val="12394D"/>
            </a:solidFill>
            <a:prstDash val="solid"/>
          </a:ln>
        </p:spPr>
      </p:sp>
      <p:sp>
        <p:nvSpPr>
          <p:cNvPr id="17" name="Text 13"/>
          <p:cNvSpPr txBox="1"/>
          <p:nvPr/>
        </p:nvSpPr>
        <p:spPr>
          <a:xfrm>
            <a:off x="4983480" y="2194560"/>
            <a:ext cx="1097280" cy="1188720"/>
          </a:xfrm>
          <a:prstGeom prst="rect">
            <a:avLst/>
          </a:prstGeom>
          <a:noFill/>
          <a:ln/>
        </p:spPr>
        <p:txBody>
          <a:bodyPr wrap="square" lIns="0" tIns="0" rIns="0" bIns="0" rtlCol="0" anchor="ctr"/>
          <a:lstStyle/>
          <a:p>
            <a:pPr algn="ctr" indent="0" marL="0">
              <a:buNone/>
            </a:pPr>
            <a:r>
              <a:rPr lang="en-US" sz="6000" b="1" dirty="0">
                <a:solidFill>
                  <a:srgbClr val="FFFFFF"/>
                </a:solidFill>
                <a:latin typeface="Arial" pitchFamily="34" charset="0"/>
                <a:ea typeface="Arial" pitchFamily="34" charset="-122"/>
                <a:cs typeface="Arial" pitchFamily="34" charset="-120"/>
              </a:rPr>
              <a:t>2</a:t>
            </a:r>
            <a:endParaRPr lang="en-US" sz="6000" dirty="0"/>
          </a:p>
        </p:txBody>
      </p:sp>
      <p:sp>
        <p:nvSpPr>
          <p:cNvPr id="18" name="Text 14"/>
          <p:cNvSpPr txBox="1"/>
          <p:nvPr/>
        </p:nvSpPr>
        <p:spPr>
          <a:xfrm>
            <a:off x="4983480" y="3474720"/>
            <a:ext cx="1097280" cy="457200"/>
          </a:xfrm>
          <a:prstGeom prst="rect">
            <a:avLst/>
          </a:prstGeom>
          <a:noFill/>
          <a:ln/>
        </p:spPr>
        <p:txBody>
          <a:bodyPr wrap="square" lIns="0" tIns="0" rIns="0" bIns="0" rtlCol="0" anchor="ctr"/>
          <a:lstStyle/>
          <a:p>
            <a:pPr algn="ctr" indent="0" marL="0">
              <a:buNone/>
            </a:pPr>
            <a:r>
              <a:rPr lang="en-US" sz="1500" dirty="0">
                <a:solidFill>
                  <a:srgbClr val="CADCE2"/>
                </a:solidFill>
                <a:latin typeface="Arial" pitchFamily="34" charset="0"/>
                <a:ea typeface="Arial" pitchFamily="34" charset="-122"/>
                <a:cs typeface="Arial" pitchFamily="34" charset="-120"/>
              </a:rPr>
              <a:t>Total</a:t>
            </a:r>
            <a:endParaRPr lang="en-US" sz="1500" dirty="0"/>
          </a:p>
        </p:txBody>
      </p:sp>
      <p:sp>
        <p:nvSpPr>
          <p:cNvPr id="19" name="Shape 15"/>
          <p:cNvSpPr/>
          <p:nvPr/>
        </p:nvSpPr>
        <p:spPr>
          <a:xfrm>
            <a:off x="6172200" y="1965960"/>
            <a:ext cx="1097280" cy="2377440"/>
          </a:xfrm>
          <a:prstGeom prst="roundRect">
            <a:avLst>
              <a:gd name="adj" fmla="val 10000"/>
            </a:avLst>
          </a:prstGeom>
          <a:solidFill>
            <a:srgbClr val="12394D"/>
          </a:solidFill>
          <a:ln w="12700">
            <a:solidFill>
              <a:srgbClr val="12394D"/>
            </a:solidFill>
            <a:prstDash val="solid"/>
          </a:ln>
        </p:spPr>
      </p:sp>
      <p:sp>
        <p:nvSpPr>
          <p:cNvPr id="20" name="Text 16"/>
          <p:cNvSpPr txBox="1"/>
          <p:nvPr/>
        </p:nvSpPr>
        <p:spPr>
          <a:xfrm>
            <a:off x="6172200" y="2194560"/>
            <a:ext cx="1097280" cy="1188720"/>
          </a:xfrm>
          <a:prstGeom prst="rect">
            <a:avLst/>
          </a:prstGeom>
          <a:noFill/>
          <a:ln/>
        </p:spPr>
        <p:txBody>
          <a:bodyPr wrap="square" lIns="0" tIns="0" rIns="0" bIns="0" rtlCol="0" anchor="ctr"/>
          <a:lstStyle/>
          <a:p>
            <a:pPr algn="ctr" indent="0" marL="0">
              <a:buNone/>
            </a:pPr>
            <a:r>
              <a:rPr lang="en-US" sz="6000" b="1" dirty="0">
                <a:solidFill>
                  <a:srgbClr val="E4572E"/>
                </a:solidFill>
                <a:latin typeface="Arial" pitchFamily="34" charset="0"/>
                <a:ea typeface="Arial" pitchFamily="34" charset="-122"/>
                <a:cs typeface="Arial" pitchFamily="34" charset="-120"/>
              </a:rPr>
              <a:t>1</a:t>
            </a:r>
            <a:endParaRPr lang="en-US" sz="6000" dirty="0"/>
          </a:p>
        </p:txBody>
      </p:sp>
      <p:sp>
        <p:nvSpPr>
          <p:cNvPr id="21" name="Text 17"/>
          <p:cNvSpPr txBox="1"/>
          <p:nvPr/>
        </p:nvSpPr>
        <p:spPr>
          <a:xfrm>
            <a:off x="6172200" y="3474720"/>
            <a:ext cx="1097280" cy="457200"/>
          </a:xfrm>
          <a:prstGeom prst="rect">
            <a:avLst/>
          </a:prstGeom>
          <a:noFill/>
          <a:ln/>
        </p:spPr>
        <p:txBody>
          <a:bodyPr wrap="square" lIns="0" tIns="0" rIns="0" bIns="0" rtlCol="0" anchor="ctr"/>
          <a:lstStyle/>
          <a:p>
            <a:pPr algn="ctr" indent="0" marL="0">
              <a:buNone/>
            </a:pPr>
            <a:r>
              <a:rPr lang="en-US" sz="1500" dirty="0">
                <a:solidFill>
                  <a:srgbClr val="CADCE2"/>
                </a:solidFill>
                <a:latin typeface="Arial" pitchFamily="34" charset="0"/>
                <a:ea typeface="Arial" pitchFamily="34" charset="-122"/>
                <a:cs typeface="Arial" pitchFamily="34" charset="-120"/>
              </a:rPr>
              <a:t>Booked</a:t>
            </a:r>
            <a:endParaRPr lang="en-US" sz="1500" dirty="0"/>
          </a:p>
        </p:txBody>
      </p:sp>
      <p:sp>
        <p:nvSpPr>
          <p:cNvPr id="22" name="Shape 18"/>
          <p:cNvSpPr/>
          <p:nvPr/>
        </p:nvSpPr>
        <p:spPr>
          <a:xfrm>
            <a:off x="7360920" y="1965960"/>
            <a:ext cx="1097280" cy="2377440"/>
          </a:xfrm>
          <a:prstGeom prst="roundRect">
            <a:avLst>
              <a:gd name="adj" fmla="val 10000"/>
            </a:avLst>
          </a:prstGeom>
          <a:solidFill>
            <a:srgbClr val="12394D"/>
          </a:solidFill>
          <a:ln w="12700">
            <a:solidFill>
              <a:srgbClr val="12394D"/>
            </a:solidFill>
            <a:prstDash val="solid"/>
          </a:ln>
        </p:spPr>
      </p:sp>
      <p:sp>
        <p:nvSpPr>
          <p:cNvPr id="23" name="Text 19"/>
          <p:cNvSpPr txBox="1"/>
          <p:nvPr/>
        </p:nvSpPr>
        <p:spPr>
          <a:xfrm>
            <a:off x="7360920" y="2194560"/>
            <a:ext cx="1097280" cy="1188720"/>
          </a:xfrm>
          <a:prstGeom prst="rect">
            <a:avLst/>
          </a:prstGeom>
          <a:noFill/>
          <a:ln/>
        </p:spPr>
        <p:txBody>
          <a:bodyPr wrap="square" lIns="0" tIns="0" rIns="0" bIns="0" rtlCol="0" anchor="ctr"/>
          <a:lstStyle/>
          <a:p>
            <a:pPr algn="ctr" indent="0" marL="0">
              <a:buNone/>
            </a:pPr>
            <a:r>
              <a:rPr lang="en-US" sz="6000" b="1" dirty="0">
                <a:solidFill>
                  <a:srgbClr val="5EE0D0"/>
                </a:solidFill>
                <a:latin typeface="Arial" pitchFamily="34" charset="0"/>
                <a:ea typeface="Arial" pitchFamily="34" charset="-122"/>
                <a:cs typeface="Arial" pitchFamily="34" charset="-120"/>
              </a:rPr>
              <a:t>1</a:t>
            </a:r>
            <a:endParaRPr lang="en-US" sz="6000" dirty="0"/>
          </a:p>
        </p:txBody>
      </p:sp>
      <p:sp>
        <p:nvSpPr>
          <p:cNvPr id="24" name="Text 20"/>
          <p:cNvSpPr txBox="1"/>
          <p:nvPr/>
        </p:nvSpPr>
        <p:spPr>
          <a:xfrm>
            <a:off x="7360920" y="3474720"/>
            <a:ext cx="1097280" cy="457200"/>
          </a:xfrm>
          <a:prstGeom prst="rect">
            <a:avLst/>
          </a:prstGeom>
          <a:noFill/>
          <a:ln/>
        </p:spPr>
        <p:txBody>
          <a:bodyPr wrap="square" lIns="0" tIns="0" rIns="0" bIns="0" rtlCol="0" anchor="ctr"/>
          <a:lstStyle/>
          <a:p>
            <a:pPr algn="ctr" indent="0" marL="0">
              <a:buNone/>
            </a:pPr>
            <a:r>
              <a:rPr lang="en-US" sz="1500" dirty="0">
                <a:solidFill>
                  <a:srgbClr val="CADCE2"/>
                </a:solidFill>
                <a:latin typeface="Arial" pitchFamily="34" charset="0"/>
                <a:ea typeface="Arial" pitchFamily="34" charset="-122"/>
                <a:cs typeface="Arial" pitchFamily="34" charset="-120"/>
              </a:rPr>
              <a:t>Available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A3A"/>
        </a:solidFill>
      </p:bgPr>
    </p:bg>
    <p:spTree>
      <p:nvGrpSpPr>
        <p:cNvPr id="1" name=""/>
        <p:cNvGrpSpPr/>
        <p:nvPr/>
      </p:nvGrpSpPr>
      <p:grpSpPr>
        <a:xfrm>
          <a:off x="0" y="0"/>
          <a:ext cx="0" cy="0"/>
          <a:chOff x="0" y="0"/>
          <a:chExt cx="0" cy="0"/>
        </a:xfrm>
      </p:grpSpPr>
      <p:sp>
        <p:nvSpPr>
          <p:cNvPr id="2" name="Text 0"/>
          <p:cNvSpPr txBox="1"/>
          <p:nvPr/>
        </p:nvSpPr>
        <p:spPr>
          <a:xfrm>
            <a:off x="484632" y="365760"/>
            <a:ext cx="566928" cy="566928"/>
          </a:xfrm>
          <a:prstGeom prst="ellipse">
            <a:avLst/>
          </a:prstGeom>
          <a:solidFill>
            <a:srgbClr val="5EE0D0"/>
          </a:solidFill>
          <a:ln/>
        </p:spPr>
        <p:txBody>
          <a:bodyPr wrap="square" lIns="0" tIns="0" rIns="0" bIns="0" rtlCol="0" anchor="ctr"/>
          <a:lstStyle/>
          <a:p>
            <a:pPr algn="ctr" indent="0" marL="0">
              <a:buNone/>
            </a:pPr>
            <a:r>
              <a:rPr lang="en-US" sz="2000" b="1" dirty="0">
                <a:solidFill>
                  <a:srgbClr val="0B2A3A"/>
                </a:solidFill>
                <a:latin typeface="Arial" pitchFamily="34" charset="0"/>
                <a:ea typeface="Arial" pitchFamily="34" charset="-122"/>
                <a:cs typeface="Arial" pitchFamily="34" charset="-120"/>
              </a:rPr>
              <a:t>8</a:t>
            </a:r>
            <a:endParaRPr lang="en-US" sz="2000" dirty="0"/>
          </a:p>
        </p:txBody>
      </p:sp>
      <p:sp>
        <p:nvSpPr>
          <p:cNvPr id="3" name="Text 1"/>
          <p:cNvSpPr txBox="1"/>
          <p:nvPr/>
        </p:nvSpPr>
        <p:spPr>
          <a:xfrm>
            <a:off x="1234440" y="320040"/>
            <a:ext cx="7452360" cy="658368"/>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Summary &amp; Scope Limits</a:t>
            </a:r>
            <a:endParaRPr lang="en-US" sz="2600" dirty="0"/>
          </a:p>
        </p:txBody>
      </p:sp>
      <p:sp>
        <p:nvSpPr>
          <p:cNvPr id="4" name="Shape 2"/>
          <p:cNvSpPr/>
          <p:nvPr/>
        </p:nvSpPr>
        <p:spPr>
          <a:xfrm>
            <a:off x="457200" y="1280160"/>
            <a:ext cx="4069080" cy="2743200"/>
          </a:xfrm>
          <a:prstGeom prst="roundRect">
            <a:avLst>
              <a:gd name="adj" fmla="val 4000"/>
            </a:avLst>
          </a:prstGeom>
          <a:solidFill>
            <a:srgbClr val="12394D"/>
          </a:solidFill>
          <a:ln w="12700">
            <a:solidFill>
              <a:srgbClr val="12394D"/>
            </a:solidFill>
            <a:prstDash val="solid"/>
          </a:ln>
        </p:spPr>
      </p:sp>
      <p:sp>
        <p:nvSpPr>
          <p:cNvPr id="5" name="Shape 3"/>
          <p:cNvSpPr/>
          <p:nvPr/>
        </p:nvSpPr>
        <p:spPr>
          <a:xfrm>
            <a:off x="640080" y="1417320"/>
            <a:ext cx="548640" cy="548640"/>
          </a:xfrm>
          <a:prstGeom prst="ellipse">
            <a:avLst/>
          </a:prstGeom>
          <a:solidFill>
            <a:srgbClr val="1F9D6B"/>
          </a:solidFill>
          <a:ln w="12700">
            <a:solidFill>
              <a:srgbClr val="1F9D6B"/>
            </a:solidFill>
            <a:prstDash val="solid"/>
          </a:ln>
        </p:spPr>
      </p:sp>
      <p:pic>
        <p:nvPicPr>
          <p:cNvPr id="6" name="Image 0" descr="preencoded.png">    </p:cNvPr>
          <p:cNvPicPr>
            <a:picLocks noChangeAspect="1"/>
          </p:cNvPicPr>
          <p:nvPr/>
        </p:nvPicPr>
        <p:blipFill>
          <a:blip r:embed="rId1"/>
          <a:stretch>
            <a:fillRect/>
          </a:stretch>
        </p:blipFill>
        <p:spPr>
          <a:xfrm>
            <a:off x="777240" y="1554480"/>
            <a:ext cx="274320" cy="274320"/>
          </a:xfrm>
          <a:prstGeom prst="rect">
            <a:avLst/>
          </a:prstGeom>
        </p:spPr>
      </p:pic>
      <p:sp>
        <p:nvSpPr>
          <p:cNvPr id="7" name="Text 4"/>
          <p:cNvSpPr txBox="1"/>
          <p:nvPr/>
        </p:nvSpPr>
        <p:spPr>
          <a:xfrm>
            <a:off x="1325880" y="1417320"/>
            <a:ext cx="301752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Arial" pitchFamily="34" charset="0"/>
                <a:ea typeface="Arial" pitchFamily="34" charset="-122"/>
                <a:cs typeface="Arial" pitchFamily="34" charset="-120"/>
              </a:rPr>
              <a:t>What was achieved</a:t>
            </a:r>
            <a:endParaRPr lang="en-US" sz="1900" dirty="0"/>
          </a:p>
        </p:txBody>
      </p:sp>
      <p:sp>
        <p:nvSpPr>
          <p:cNvPr id="8" name="Text 5"/>
          <p:cNvSpPr txBox="1"/>
          <p:nvPr/>
        </p:nvSpPr>
        <p:spPr>
          <a:xfrm>
            <a:off x="640080" y="2148840"/>
            <a:ext cx="3703320" cy="1645920"/>
          </a:xfrm>
          <a:prstGeom prst="rect">
            <a:avLst/>
          </a:prstGeom>
          <a:noFill/>
          <a:ln/>
        </p:spPr>
        <p:txBody>
          <a:bodyPr wrap="square" lIns="0" tIns="0" rIns="0" bIns="0" rtlCol="0" anchor="t"/>
          <a:lstStyle/>
          <a:p>
            <a:pPr algn="l" indent="0" marL="0">
              <a:buNone/>
            </a:pPr>
            <a:r>
              <a:rPr lang="en-US" sz="1800" dirty="0">
                <a:solidFill>
                  <a:srgbClr val="FFFFFF"/>
                </a:solidFill>
                <a:latin typeface="Arial" pitchFamily="34" charset="0"/>
                <a:ea typeface="Arial" pitchFamily="34" charset="-122"/>
                <a:cs typeface="Arial" pitchFamily="34" charset="-120"/>
              </a:rPr>
              <a:t>Preventing the same slot from being booked twice, using an atomic update on a single document.</a:t>
            </a:r>
            <a:endParaRPr lang="en-US" sz="1800" dirty="0"/>
          </a:p>
        </p:txBody>
      </p:sp>
      <p:sp>
        <p:nvSpPr>
          <p:cNvPr id="9" name="Shape 6"/>
          <p:cNvSpPr/>
          <p:nvPr/>
        </p:nvSpPr>
        <p:spPr>
          <a:xfrm>
            <a:off x="4617720" y="1280160"/>
            <a:ext cx="4069080" cy="2743200"/>
          </a:xfrm>
          <a:prstGeom prst="roundRect">
            <a:avLst>
              <a:gd name="adj" fmla="val 4000"/>
            </a:avLst>
          </a:prstGeom>
          <a:solidFill>
            <a:srgbClr val="12394D"/>
          </a:solidFill>
          <a:ln w="12700">
            <a:solidFill>
              <a:srgbClr val="12394D"/>
            </a:solidFill>
            <a:prstDash val="solid"/>
          </a:ln>
        </p:spPr>
      </p:sp>
      <p:sp>
        <p:nvSpPr>
          <p:cNvPr id="10" name="Shape 7"/>
          <p:cNvSpPr/>
          <p:nvPr/>
        </p:nvSpPr>
        <p:spPr>
          <a:xfrm>
            <a:off x="4800600" y="1417320"/>
            <a:ext cx="548640" cy="548640"/>
          </a:xfrm>
          <a:prstGeom prst="ellipse">
            <a:avLst/>
          </a:prstGeom>
          <a:solidFill>
            <a:srgbClr val="E4572E"/>
          </a:solidFill>
          <a:ln w="12700">
            <a:solidFill>
              <a:srgbClr val="E4572E"/>
            </a:solidFill>
            <a:prstDash val="solid"/>
          </a:ln>
        </p:spPr>
      </p:sp>
      <p:pic>
        <p:nvPicPr>
          <p:cNvPr id="11" name="Image 1" descr="preencoded.png">    </p:cNvPr>
          <p:cNvPicPr>
            <a:picLocks noChangeAspect="1"/>
          </p:cNvPicPr>
          <p:nvPr/>
        </p:nvPicPr>
        <p:blipFill>
          <a:blip r:embed="rId2"/>
          <a:stretch>
            <a:fillRect/>
          </a:stretch>
        </p:blipFill>
        <p:spPr>
          <a:xfrm>
            <a:off x="4937760" y="1554480"/>
            <a:ext cx="274320" cy="274320"/>
          </a:xfrm>
          <a:prstGeom prst="rect">
            <a:avLst/>
          </a:prstGeom>
        </p:spPr>
      </p:pic>
      <p:sp>
        <p:nvSpPr>
          <p:cNvPr id="12" name="Text 8"/>
          <p:cNvSpPr txBox="1"/>
          <p:nvPr/>
        </p:nvSpPr>
        <p:spPr>
          <a:xfrm>
            <a:off x="5486400" y="1417320"/>
            <a:ext cx="301752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Arial" pitchFamily="34" charset="0"/>
                <a:ea typeface="Arial" pitchFamily="34" charset="-122"/>
                <a:cs typeface="Arial" pitchFamily="34" charset="-120"/>
              </a:rPr>
              <a:t>What's not included</a:t>
            </a:r>
            <a:endParaRPr lang="en-US" sz="1900" dirty="0"/>
          </a:p>
        </p:txBody>
      </p:sp>
      <p:pic>
        <p:nvPicPr>
          <p:cNvPr id="13" name="Image 2" descr="preencoded.png">    </p:cNvPr>
          <p:cNvPicPr>
            <a:picLocks noChangeAspect="1"/>
          </p:cNvPicPr>
          <p:nvPr/>
        </p:nvPicPr>
        <p:blipFill>
          <a:blip r:embed="rId3"/>
          <a:stretch>
            <a:fillRect/>
          </a:stretch>
        </p:blipFill>
        <p:spPr>
          <a:xfrm>
            <a:off x="4800600" y="2194560"/>
            <a:ext cx="274320" cy="274320"/>
          </a:xfrm>
          <a:prstGeom prst="rect">
            <a:avLst/>
          </a:prstGeom>
        </p:spPr>
      </p:pic>
      <p:sp>
        <p:nvSpPr>
          <p:cNvPr id="14" name="Text 9"/>
          <p:cNvSpPr txBox="1"/>
          <p:nvPr/>
        </p:nvSpPr>
        <p:spPr>
          <a:xfrm>
            <a:off x="5166360" y="2103120"/>
            <a:ext cx="3337560" cy="457200"/>
          </a:xfrm>
          <a:prstGeom prst="rect">
            <a:avLst/>
          </a:prstGeom>
          <a:noFill/>
          <a:ln/>
        </p:spPr>
        <p:txBody>
          <a:bodyPr wrap="square" lIns="0" tIns="0" rIns="0" bIns="0" rtlCol="0" anchor="ctr"/>
          <a:lstStyle/>
          <a:p>
            <a:pPr algn="l" indent="0" marL="0">
              <a:buNone/>
            </a:pPr>
            <a:r>
              <a:rPr lang="en-US" sz="1400" dirty="0">
                <a:solidFill>
                  <a:srgbClr val="FFFFFF"/>
                </a:solidFill>
                <a:latin typeface="Arial" pitchFamily="34" charset="0"/>
                <a:ea typeface="Arial" pitchFamily="34" charset="-122"/>
                <a:cs typeface="Arial" pitchFamily="34" charset="-120"/>
              </a:rPr>
              <a:t>No frontend</a:t>
            </a:r>
            <a:endParaRPr lang="en-US" sz="1400" dirty="0"/>
          </a:p>
        </p:txBody>
      </p:sp>
      <p:pic>
        <p:nvPicPr>
          <p:cNvPr id="15" name="Image 3" descr="preencoded.png">    </p:cNvPr>
          <p:cNvPicPr>
            <a:picLocks noChangeAspect="1"/>
          </p:cNvPicPr>
          <p:nvPr/>
        </p:nvPicPr>
        <p:blipFill>
          <a:blip r:embed="rId4"/>
          <a:stretch>
            <a:fillRect/>
          </a:stretch>
        </p:blipFill>
        <p:spPr>
          <a:xfrm>
            <a:off x="4800600" y="2816352"/>
            <a:ext cx="274320" cy="274320"/>
          </a:xfrm>
          <a:prstGeom prst="rect">
            <a:avLst/>
          </a:prstGeom>
        </p:spPr>
      </p:pic>
      <p:sp>
        <p:nvSpPr>
          <p:cNvPr id="16" name="Text 10"/>
          <p:cNvSpPr txBox="1"/>
          <p:nvPr/>
        </p:nvSpPr>
        <p:spPr>
          <a:xfrm>
            <a:off x="5166360" y="2724912"/>
            <a:ext cx="3337560" cy="457200"/>
          </a:xfrm>
          <a:prstGeom prst="rect">
            <a:avLst/>
          </a:prstGeom>
          <a:noFill/>
          <a:ln/>
        </p:spPr>
        <p:txBody>
          <a:bodyPr wrap="square" lIns="0" tIns="0" rIns="0" bIns="0" rtlCol="0" anchor="ctr"/>
          <a:lstStyle/>
          <a:p>
            <a:pPr algn="l" indent="0" marL="0">
              <a:buNone/>
            </a:pPr>
            <a:r>
              <a:rPr lang="en-US" sz="1400" dirty="0">
                <a:solidFill>
                  <a:srgbClr val="FFFFFF"/>
                </a:solidFill>
                <a:latin typeface="Arial" pitchFamily="34" charset="0"/>
                <a:ea typeface="Arial" pitchFamily="34" charset="-122"/>
                <a:cs typeface="Arial" pitchFamily="34" charset="-120"/>
              </a:rPr>
              <a:t>No payments</a:t>
            </a:r>
            <a:endParaRPr lang="en-US" sz="1400" dirty="0"/>
          </a:p>
        </p:txBody>
      </p:sp>
      <p:pic>
        <p:nvPicPr>
          <p:cNvPr id="17" name="Image 4" descr="preencoded.png">    </p:cNvPr>
          <p:cNvPicPr>
            <a:picLocks noChangeAspect="1"/>
          </p:cNvPicPr>
          <p:nvPr/>
        </p:nvPicPr>
        <p:blipFill>
          <a:blip r:embed="rId5"/>
          <a:stretch>
            <a:fillRect/>
          </a:stretch>
        </p:blipFill>
        <p:spPr>
          <a:xfrm>
            <a:off x="4800600" y="3438144"/>
            <a:ext cx="274320" cy="274320"/>
          </a:xfrm>
          <a:prstGeom prst="rect">
            <a:avLst/>
          </a:prstGeom>
        </p:spPr>
      </p:pic>
      <p:sp>
        <p:nvSpPr>
          <p:cNvPr id="18" name="Text 11"/>
          <p:cNvSpPr txBox="1"/>
          <p:nvPr/>
        </p:nvSpPr>
        <p:spPr>
          <a:xfrm>
            <a:off x="5166360" y="3346704"/>
            <a:ext cx="3337560" cy="457200"/>
          </a:xfrm>
          <a:prstGeom prst="rect">
            <a:avLst/>
          </a:prstGeom>
          <a:noFill/>
          <a:ln/>
        </p:spPr>
        <p:txBody>
          <a:bodyPr wrap="square" lIns="0" tIns="0" rIns="0" bIns="0" rtlCol="0" anchor="ctr"/>
          <a:lstStyle/>
          <a:p>
            <a:pPr algn="l" indent="0" marL="0">
              <a:buNone/>
            </a:pPr>
            <a:r>
              <a:rPr lang="en-US" sz="1400" dirty="0">
                <a:solidFill>
                  <a:srgbClr val="FFFFFF"/>
                </a:solidFill>
                <a:latin typeface="Arial" pitchFamily="34" charset="0"/>
                <a:ea typeface="Arial" pitchFamily="34" charset="-122"/>
                <a:cs typeface="Arial" pitchFamily="34" charset="-120"/>
              </a:rPr>
              <a:t>No MongoDB multi-document transactions</a:t>
            </a:r>
            <a:endParaRPr lang="en-US" sz="1400" dirty="0"/>
          </a:p>
        </p:txBody>
      </p:sp>
      <p:sp>
        <p:nvSpPr>
          <p:cNvPr id="19" name="Shape 12"/>
          <p:cNvSpPr/>
          <p:nvPr/>
        </p:nvSpPr>
        <p:spPr>
          <a:xfrm>
            <a:off x="2286000" y="4297680"/>
            <a:ext cx="4572000" cy="502920"/>
          </a:xfrm>
          <a:prstGeom prst="roundRect">
            <a:avLst>
              <a:gd name="adj" fmla="val 49091"/>
            </a:avLst>
          </a:prstGeom>
          <a:solidFill>
            <a:srgbClr val="5EE0D0"/>
          </a:solidFill>
          <a:ln w="12700">
            <a:solidFill>
              <a:srgbClr val="5EE0D0"/>
            </a:solidFill>
            <a:prstDash val="solid"/>
          </a:ln>
        </p:spPr>
      </p:sp>
      <p:sp>
        <p:nvSpPr>
          <p:cNvPr id="20" name="Text 13"/>
          <p:cNvSpPr txBox="1"/>
          <p:nvPr/>
        </p:nvSpPr>
        <p:spPr>
          <a:xfrm>
            <a:off x="2286000" y="4297680"/>
            <a:ext cx="4572000" cy="502920"/>
          </a:xfrm>
          <a:prstGeom prst="rect">
            <a:avLst/>
          </a:prstGeom>
          <a:noFill/>
          <a:ln/>
        </p:spPr>
        <p:txBody>
          <a:bodyPr wrap="square" lIns="0" tIns="0" rIns="0" bIns="0" rtlCol="0" anchor="ctr"/>
          <a:lstStyle/>
          <a:p>
            <a:pPr algn="ctr" indent="0" marL="0">
              <a:buNone/>
            </a:pPr>
            <a:r>
              <a:rPr lang="en-US" sz="1500" b="1" dirty="0">
                <a:solidFill>
                  <a:srgbClr val="0B2A3A"/>
                </a:solidFill>
                <a:latin typeface="Arial" pitchFamily="34" charset="0"/>
                <a:ea typeface="Arial" pitchFamily="34" charset="-122"/>
                <a:cs typeface="Arial" pitchFamily="34" charset="-120"/>
              </a:rPr>
              <a:t>Single Document Atomic Update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Appointment-slot transaction simulation</dc:title>
  <dc:subject>PptxGenJS Presentation</dc:subject>
  <dc:creator>PptxGenJS</dc:creator>
  <cp:lastModifiedBy>PptxGenJS</cp:lastModifiedBy>
  <cp:revision>1</cp:revision>
  <dcterms:created xsi:type="dcterms:W3CDTF">2026-09-28T08:48:25Z</dcterms:created>
  <dcterms:modified xsi:type="dcterms:W3CDTF">2026-09-28T08:48:25Z</dcterms:modified>
</cp:coreProperties>
</file>